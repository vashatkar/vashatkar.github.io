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update on TA data: where we want to be, where we are today, what we are doing about it,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where we are headed, how we are restoring trust, and what we are doing in 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North Star: trusted data, ready for insight and AI. The pyramid shows what has to be true underneath it, read from the bottom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describes how the setup has grown over time, not anyone’s work. These are not one-off problems: they follow from business logic living in the dashboards and each product reading from its own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reducing support in the Slack channel and will eventually turn it off. Proactive monitoring and the AI assistant (a Gem) take its place for day-to-day issues and questions. The audit and re-architecture fix the root cause in the data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a TA data declaration is expected. The audit comes first and documents everything. The two-day session works from it to trace how data moves from the platforms into HRDW and through the business logic, and produces a ranked fix list. That list feeds the architecture the team has already proposed; we start on the parts the audit won’t change. The December line is a placeholder: confirm or remove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discussion slide, not a commitment. The order matters: AI only becomes useful once the definitions underneath it are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analyst presents their own one-slider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your questions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if questions come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on the parts of the architecture the audit won’t change, and let the audit shape the rest as it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waiting for the declaration to land. The audit documents everything first. The session then works from it to give us a clear picture of how data moves from the platforms into HRDW and through the business logic, and a prioritised list of what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each report pulls from its own mix of tables, with business rules inside them. Where we are going, every report reads the same shared tables and the same agreed definitions. Useful for an analyst one-slider.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recent deliveries, kept as backup. Each analyst presents their own one-slider in the main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508000"/>
            <a:ext cx="10769600" cy="374650"/>
          </a:xfrm>
          <a:prstGeom prst="rect">
            <a:avLst/>
          </a:prstGeom>
          <a:noFill/>
          <a:ln/>
        </p:spPr>
        <p:txBody>
          <a:bodyPr wrap="square" lIns="0" tIns="0" rIns="0" bIns="0" rtlCol="0" anchor="t"/>
          <a:lstStyle>
            <a:lvl1pPr algn="l" indent="0" marL="0">
              <a:lnSpc>
                <a:spcPct val="115000"/>
              </a:lnSpc>
              <a:buNone/>
              <a:defRPr lang="en-US" sz="2600" dirty="0">
                <a:solidFill>
                  <a:srgbClr val="0D2C54"/>
                </a:solidFill>
                <a:latin typeface="Arial" pitchFamily="34" charset="0"/>
                <a:ea typeface="Arial" pitchFamily="34" charset="-122"/>
                <a:cs typeface="Arial"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711200" y="1187450"/>
            <a:ext cx="10668000" cy="4857750"/>
          </a:xfrm>
          <a:prstGeom prst="rect">
            <a:avLst/>
          </a:prstGeom>
          <a:noFill/>
          <a:ln/>
        </p:spPr>
        <p:txBody>
          <a:bodyPr wrap="square" lIns="0" tIns="0" rIns="0" bIns="0" rtlCol="0" anchor="t"/>
          <a:lstStyle>
            <a:lvl1pPr algn="l" indent="0" marL="0">
              <a:lnSpc>
                <a:spcPct val="140000"/>
              </a:lnSpc>
              <a:buNone/>
              <a:defRPr lang="en-US" sz="1600" dirty="0">
                <a:solidFill>
                  <a:srgbClr val="0D2C54"/>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508000"/>
            <a:ext cx="10769600" cy="374650"/>
          </a:xfrm>
          <a:prstGeom prst="rect">
            <a:avLst/>
          </a:prstGeom>
          <a:noFill/>
          <a:ln/>
        </p:spPr>
        <p:txBody>
          <a:bodyPr wrap="square" lIns="0" tIns="0" rIns="0" bIns="0" rtlCol="0" anchor="t"/>
          <a:lstStyle>
            <a:lvl1pPr algn="l" indent="0" marL="0">
              <a:lnSpc>
                <a:spcPct val="115000"/>
              </a:lnSpc>
              <a:buNone/>
              <a:defRPr lang="en-US" sz="2600" dirty="0">
                <a:solidFill>
                  <a:srgbClr val="0D2C54"/>
                </a:solidFill>
                <a:latin typeface="Arial" pitchFamily="34" charset="0"/>
                <a:ea typeface="Arial" pitchFamily="34" charset="-122"/>
                <a:cs typeface="Arial"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711200" y="1187450"/>
            <a:ext cx="10668000" cy="4857750"/>
          </a:xfrm>
          <a:prstGeom prst="rect">
            <a:avLst/>
          </a:prstGeom>
          <a:noFill/>
          <a:ln/>
        </p:spPr>
        <p:txBody>
          <a:bodyPr wrap="square" lIns="0" tIns="0" rIns="0" bIns="0" rtlCol="0" anchor="t"/>
          <a:lstStyle>
            <a:lvl1pPr algn="l" indent="0" marL="0">
              <a:lnSpc>
                <a:spcPct val="140000"/>
              </a:lnSpc>
              <a:buNone/>
              <a:defRPr lang="en-US" sz="1600" dirty="0">
                <a:solidFill>
                  <a:srgbClr val="0D2C54"/>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slideLayout" Target="../slideLayouts/slideLayout2.xml"/><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C54"/>
        </a:solidFill>
      </p:bgPr>
    </p:bg>
    <p:spTree>
      <p:nvGrpSpPr>
        <p:cNvPr id="1" name=""/>
        <p:cNvGrpSpPr/>
        <p:nvPr/>
      </p:nvGrpSpPr>
      <p:grpSpPr>
        <a:xfrm>
          <a:off x="0" y="0"/>
          <a:ext cx="0" cy="0"/>
          <a:chOff x="0" y="0"/>
          <a:chExt cx="0" cy="0"/>
        </a:xfrm>
      </p:grpSpPr>
      <p:sp>
        <p:nvSpPr>
          <p:cNvPr id="2" name="Shape 0"/>
          <p:cNvSpPr/>
          <p:nvPr/>
        </p:nvSpPr>
        <p:spPr>
          <a:xfrm>
            <a:off x="711200" y="1743075"/>
            <a:ext cx="1016000" cy="63500"/>
          </a:xfrm>
          <a:prstGeom prst="rect">
            <a:avLst/>
          </a:prstGeom>
          <a:solidFill>
            <a:srgbClr val="F2B33D"/>
          </a:solidFill>
          <a:ln/>
        </p:spPr>
      </p:sp>
      <p:sp>
        <p:nvSpPr>
          <p:cNvPr id="3" name="Text 1"/>
          <p:cNvSpPr/>
          <p:nvPr/>
        </p:nvSpPr>
        <p:spPr>
          <a:xfrm>
            <a:off x="711200" y="2060575"/>
            <a:ext cx="1109268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Arial" pitchFamily="34" charset="0"/>
                <a:ea typeface="Arial" pitchFamily="34" charset="-122"/>
                <a:cs typeface="Arial" pitchFamily="34" charset="-120"/>
              </a:rPr>
              <a:t>TA Data and Insights</a:t>
            </a:r>
            <a:endParaRPr lang="en-US" sz="1500" dirty="0"/>
          </a:p>
        </p:txBody>
      </p:sp>
      <p:sp>
        <p:nvSpPr>
          <p:cNvPr id="4" name="Text 2"/>
          <p:cNvSpPr/>
          <p:nvPr>
            <p:ph type="title"/>
          </p:nvPr>
        </p:nvSpPr>
        <p:spPr>
          <a:xfrm>
            <a:off x="711200" y="2581275"/>
            <a:ext cx="11092688" cy="1447800"/>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FFFFF"/>
                </a:solidFill>
                <a:latin typeface="Arial" pitchFamily="34" charset="0"/>
                <a:ea typeface="Arial" pitchFamily="34" charset="-122"/>
                <a:cs typeface="Arial" pitchFamily="34" charset="-120"/>
              </a:rPr>
              <a:t>Where we are,</a:t>
            </a:r>
            <a:endParaRPr lang="en-US" sz="5200" dirty="0"/>
          </a:p>
          <a:p>
            <a:pPr algn="l" indent="0" marL="0">
              <a:lnSpc>
                <a:spcPts val="5616"/>
              </a:lnSpc>
              <a:buNone/>
            </a:pPr>
            <a:r>
              <a:rPr lang="en-US" sz="5200" b="1" i="0" dirty="0">
                <a:solidFill>
                  <a:srgbClr val="FFFFFF"/>
                </a:solidFill>
                <a:latin typeface="Arial" pitchFamily="34" charset="0"/>
                <a:ea typeface="Arial" pitchFamily="34" charset="-122"/>
                <a:cs typeface="Arial" pitchFamily="34" charset="-120"/>
              </a:rPr>
              <a:t>and where we’re headed</a:t>
            </a:r>
            <a:endParaRPr lang="en-US" sz="5200" dirty="0"/>
          </a:p>
        </p:txBody>
      </p:sp>
      <p:sp>
        <p:nvSpPr>
          <p:cNvPr id="5" name="Text 3"/>
          <p:cNvSpPr/>
          <p:nvPr/>
        </p:nvSpPr>
        <p:spPr>
          <a:xfrm>
            <a:off x="711200" y="4257675"/>
            <a:ext cx="11092688"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6E6"/>
                </a:solidFill>
                <a:latin typeface="Arial" pitchFamily="34" charset="0"/>
                <a:ea typeface="Arial" pitchFamily="34" charset="-122"/>
                <a:cs typeface="Arial" pitchFamily="34" charset="-120"/>
              </a:rPr>
              <a:t>Q4 2026 update</a:t>
            </a:r>
            <a:endParaRPr lang="en-US" sz="2000" dirty="0"/>
          </a:p>
        </p:txBody>
      </p:sp>
      <p:sp>
        <p:nvSpPr>
          <p:cNvPr id="6" name="Text 4"/>
          <p:cNvSpPr/>
          <p:nvPr/>
        </p:nvSpPr>
        <p:spPr>
          <a:xfrm>
            <a:off x="711200" y="4867275"/>
            <a:ext cx="11092688"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6"/>
                </a:solidFill>
                <a:latin typeface="Arial" pitchFamily="34" charset="0"/>
                <a:ea typeface="Arial" pitchFamily="34" charset="-122"/>
                <a:cs typeface="Arial" pitchFamily="34" charset="-120"/>
              </a:rPr>
              <a:t>[Presenter name] · [Date]</a:t>
            </a:r>
            <a:endParaRPr lang="en-US" sz="1400" dirty="0"/>
          </a:p>
        </p:txBody>
      </p:sp>
      <p:sp>
        <p:nvSpPr>
          <p:cNvPr id="7" name="Text 5"/>
          <p:cNvSpPr/>
          <p:nvPr/>
        </p:nvSpPr>
        <p:spPr>
          <a:xfrm>
            <a:off x="-182880" y="6400800"/>
            <a:ext cx="12557760" cy="203200"/>
          </a:xfrm>
          <a:prstGeom prst="rect">
            <a:avLst/>
          </a:prstGeom>
          <a:noFill/>
          <a:ln/>
        </p:spPr>
        <p:txBody>
          <a:bodyPr wrap="square" lIns="0" tIns="0" rIns="0" bIns="0" rtlCol="0" anchor="t">
            <a:normAutofit/>
          </a:bodyPr>
          <a:lstStyle/>
          <a:p>
            <a:pPr algn="ctr" indent="0" marL="0">
              <a:lnSpc>
                <a:spcPts val="1400"/>
              </a:lnSpc>
              <a:buNone/>
            </a:pPr>
            <a:r>
              <a:rPr lang="en-US" sz="1000" b="1" spc="150" kern="0" dirty="0">
                <a:solidFill>
                  <a:srgbClr val="C9D6E6"/>
                </a:solidFill>
                <a:latin typeface="Arial" pitchFamily="34" charset="0"/>
                <a:ea typeface="Arial" pitchFamily="34" charset="-122"/>
                <a:cs typeface="Arial" pitchFamily="34" charset="-120"/>
              </a:rPr>
              <a:t>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711200" y="508000"/>
            <a:ext cx="11092688" cy="40005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D2C54"/>
                </a:solidFill>
                <a:latin typeface="Arial" pitchFamily="34" charset="0"/>
                <a:ea typeface="Arial" pitchFamily="34" charset="-122"/>
                <a:cs typeface="Arial" pitchFamily="34" charset="-120"/>
              </a:rPr>
              <a:t>Executive summary</a:t>
            </a:r>
            <a:endParaRPr lang="en-US" sz="2600" dirty="0"/>
          </a:p>
        </p:txBody>
      </p:sp>
      <p:sp>
        <p:nvSpPr>
          <p:cNvPr id="3" name="Shape 1"/>
          <p:cNvSpPr/>
          <p:nvPr/>
        </p:nvSpPr>
        <p:spPr>
          <a:xfrm>
            <a:off x="711200" y="1085850"/>
            <a:ext cx="10769600" cy="825500"/>
          </a:xfrm>
          <a:prstGeom prst="rect">
            <a:avLst/>
          </a:prstGeom>
          <a:solidFill>
            <a:srgbClr val="F2B33D"/>
          </a:solidFill>
          <a:ln/>
        </p:spPr>
      </p:sp>
      <p:sp>
        <p:nvSpPr>
          <p:cNvPr id="4" name="Text 2"/>
          <p:cNvSpPr/>
          <p:nvPr/>
        </p:nvSpPr>
        <p:spPr>
          <a:xfrm>
            <a:off x="811276" y="1238250"/>
            <a:ext cx="10569448" cy="546100"/>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0D2C54"/>
                </a:solidFill>
                <a:latin typeface="Arial" pitchFamily="34" charset="0"/>
                <a:ea typeface="Arial" pitchFamily="34" charset="-122"/>
                <a:cs typeface="Arial" pitchFamily="34" charset="-120"/>
              </a:rPr>
              <a:t>We’re cutting reactive work so the team can fix the data foundation, and be ready for the expected TA data declaration.</a:t>
            </a:r>
            <a:endParaRPr lang="en-US" sz="1600" dirty="0"/>
          </a:p>
        </p:txBody>
      </p:sp>
      <p:sp>
        <p:nvSpPr>
          <p:cNvPr id="5" name="Text 3"/>
          <p:cNvSpPr/>
          <p:nvPr/>
        </p:nvSpPr>
        <p:spPr>
          <a:xfrm>
            <a:off x="711200" y="2114550"/>
            <a:ext cx="3471366"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Where we’re headed</a:t>
            </a:r>
            <a:endParaRPr lang="en-US" sz="1500" dirty="0"/>
          </a:p>
        </p:txBody>
      </p:sp>
      <p:sp>
        <p:nvSpPr>
          <p:cNvPr id="6" name="Shape 4"/>
          <p:cNvSpPr/>
          <p:nvPr/>
        </p:nvSpPr>
        <p:spPr>
          <a:xfrm>
            <a:off x="711200" y="2749550"/>
            <a:ext cx="3471366" cy="3295650"/>
          </a:xfrm>
          <a:prstGeom prst="rect">
            <a:avLst/>
          </a:prstGeom>
          <a:solidFill>
            <a:srgbClr val="DCEBF2"/>
          </a:solidFill>
          <a:ln/>
        </p:spPr>
      </p:sp>
      <p:sp>
        <p:nvSpPr>
          <p:cNvPr id="7" name="Shape 5"/>
          <p:cNvSpPr/>
          <p:nvPr/>
        </p:nvSpPr>
        <p:spPr>
          <a:xfrm>
            <a:off x="914400" y="2978150"/>
            <a:ext cx="76200" cy="76200"/>
          </a:xfrm>
          <a:prstGeom prst="rect">
            <a:avLst/>
          </a:prstGeom>
          <a:solidFill>
            <a:srgbClr val="F2B33D"/>
          </a:solidFill>
          <a:ln/>
        </p:spPr>
      </p:sp>
      <p:sp>
        <p:nvSpPr>
          <p:cNvPr id="8" name="Text 6"/>
          <p:cNvSpPr/>
          <p:nvPr/>
        </p:nvSpPr>
        <p:spPr>
          <a:xfrm>
            <a:off x="1104900" y="29781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Trusted data, ready for insight and AI</a:t>
            </a:r>
            <a:endParaRPr lang="en-US" sz="1700" dirty="0"/>
          </a:p>
        </p:txBody>
      </p:sp>
      <p:sp>
        <p:nvSpPr>
          <p:cNvPr id="9" name="Shape 7"/>
          <p:cNvSpPr/>
          <p:nvPr/>
        </p:nvSpPr>
        <p:spPr>
          <a:xfrm>
            <a:off x="914400" y="3714750"/>
            <a:ext cx="76200" cy="76200"/>
          </a:xfrm>
          <a:prstGeom prst="rect">
            <a:avLst/>
          </a:prstGeom>
          <a:solidFill>
            <a:srgbClr val="F2B33D"/>
          </a:solidFill>
          <a:ln/>
        </p:spPr>
      </p:sp>
      <p:sp>
        <p:nvSpPr>
          <p:cNvPr id="10" name="Text 8"/>
          <p:cNvSpPr/>
          <p:nvPr/>
        </p:nvSpPr>
        <p:spPr>
          <a:xfrm>
            <a:off x="1104900" y="3714750"/>
            <a:ext cx="2960700" cy="9207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Built on reliable sources, shared tables and one set of definitions</a:t>
            </a:r>
            <a:endParaRPr lang="en-US" sz="1700" dirty="0"/>
          </a:p>
        </p:txBody>
      </p:sp>
      <p:sp>
        <p:nvSpPr>
          <p:cNvPr id="11" name="Text 9"/>
          <p:cNvSpPr/>
          <p:nvPr/>
        </p:nvSpPr>
        <p:spPr>
          <a:xfrm>
            <a:off x="4360366" y="2114550"/>
            <a:ext cx="3471366"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Restoring trust</a:t>
            </a:r>
            <a:endParaRPr lang="en-US" sz="1500" dirty="0"/>
          </a:p>
        </p:txBody>
      </p:sp>
      <p:sp>
        <p:nvSpPr>
          <p:cNvPr id="12" name="Shape 10"/>
          <p:cNvSpPr/>
          <p:nvPr/>
        </p:nvSpPr>
        <p:spPr>
          <a:xfrm>
            <a:off x="4360366" y="2749550"/>
            <a:ext cx="3471366" cy="3295650"/>
          </a:xfrm>
          <a:prstGeom prst="rect">
            <a:avLst/>
          </a:prstGeom>
          <a:solidFill>
            <a:srgbClr val="DCEBF2"/>
          </a:solidFill>
          <a:ln/>
        </p:spPr>
      </p:sp>
      <p:sp>
        <p:nvSpPr>
          <p:cNvPr id="13" name="Shape 11"/>
          <p:cNvSpPr/>
          <p:nvPr/>
        </p:nvSpPr>
        <p:spPr>
          <a:xfrm>
            <a:off x="4563566" y="2978150"/>
            <a:ext cx="76200" cy="76200"/>
          </a:xfrm>
          <a:prstGeom prst="rect">
            <a:avLst/>
          </a:prstGeom>
          <a:solidFill>
            <a:srgbClr val="F2B33D"/>
          </a:solidFill>
          <a:ln/>
        </p:spPr>
      </p:sp>
      <p:sp>
        <p:nvSpPr>
          <p:cNvPr id="14" name="Text 12"/>
          <p:cNvSpPr/>
          <p:nvPr/>
        </p:nvSpPr>
        <p:spPr>
          <a:xfrm>
            <a:off x="4754066" y="29781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Proactive monitoring of dashboards</a:t>
            </a:r>
            <a:endParaRPr lang="en-US" sz="1700" dirty="0"/>
          </a:p>
        </p:txBody>
      </p:sp>
      <p:sp>
        <p:nvSpPr>
          <p:cNvPr id="15" name="Shape 13"/>
          <p:cNvSpPr/>
          <p:nvPr/>
        </p:nvSpPr>
        <p:spPr>
          <a:xfrm>
            <a:off x="4563566" y="3714750"/>
            <a:ext cx="76200" cy="76200"/>
          </a:xfrm>
          <a:prstGeom prst="rect">
            <a:avLst/>
          </a:prstGeom>
          <a:solidFill>
            <a:srgbClr val="F2B33D"/>
          </a:solidFill>
          <a:ln/>
        </p:spPr>
      </p:sp>
      <p:sp>
        <p:nvSpPr>
          <p:cNvPr id="16" name="Text 14"/>
          <p:cNvSpPr/>
          <p:nvPr/>
        </p:nvSpPr>
        <p:spPr>
          <a:xfrm>
            <a:off x="4754066" y="37147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An AI assistant for routine questions</a:t>
            </a:r>
            <a:endParaRPr lang="en-US" sz="1700" dirty="0"/>
          </a:p>
        </p:txBody>
      </p:sp>
      <p:sp>
        <p:nvSpPr>
          <p:cNvPr id="17" name="Shape 15"/>
          <p:cNvSpPr/>
          <p:nvPr/>
        </p:nvSpPr>
        <p:spPr>
          <a:xfrm>
            <a:off x="4563566" y="4451350"/>
            <a:ext cx="76200" cy="76200"/>
          </a:xfrm>
          <a:prstGeom prst="rect">
            <a:avLst/>
          </a:prstGeom>
          <a:solidFill>
            <a:srgbClr val="F2B33D"/>
          </a:solidFill>
          <a:ln/>
        </p:spPr>
      </p:sp>
      <p:sp>
        <p:nvSpPr>
          <p:cNvPr id="18" name="Text 16"/>
          <p:cNvSpPr/>
          <p:nvPr/>
        </p:nvSpPr>
        <p:spPr>
          <a:xfrm>
            <a:off x="4754066" y="44513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An audit and re-architecture for the lasting fix</a:t>
            </a:r>
            <a:endParaRPr lang="en-US" sz="1700" dirty="0"/>
          </a:p>
        </p:txBody>
      </p:sp>
      <p:sp>
        <p:nvSpPr>
          <p:cNvPr id="19" name="Text 17"/>
          <p:cNvSpPr/>
          <p:nvPr/>
        </p:nvSpPr>
        <p:spPr>
          <a:xfrm>
            <a:off x="8009533" y="2114550"/>
            <a:ext cx="3471366"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Q4 look ahead</a:t>
            </a:r>
            <a:endParaRPr lang="en-US" sz="1500" dirty="0"/>
          </a:p>
        </p:txBody>
      </p:sp>
      <p:sp>
        <p:nvSpPr>
          <p:cNvPr id="20" name="Shape 18"/>
          <p:cNvSpPr/>
          <p:nvPr/>
        </p:nvSpPr>
        <p:spPr>
          <a:xfrm>
            <a:off x="8009533" y="2749550"/>
            <a:ext cx="3471366" cy="3295650"/>
          </a:xfrm>
          <a:prstGeom prst="rect">
            <a:avLst/>
          </a:prstGeom>
          <a:solidFill>
            <a:srgbClr val="DCEBF2"/>
          </a:solidFill>
          <a:ln/>
        </p:spPr>
      </p:sp>
      <p:sp>
        <p:nvSpPr>
          <p:cNvPr id="21" name="Shape 19"/>
          <p:cNvSpPr/>
          <p:nvPr/>
        </p:nvSpPr>
        <p:spPr>
          <a:xfrm>
            <a:off x="8212733" y="2978150"/>
            <a:ext cx="76200" cy="76200"/>
          </a:xfrm>
          <a:prstGeom prst="rect">
            <a:avLst/>
          </a:prstGeom>
          <a:solidFill>
            <a:srgbClr val="F2B33D"/>
          </a:solidFill>
          <a:ln/>
        </p:spPr>
      </p:sp>
      <p:sp>
        <p:nvSpPr>
          <p:cNvPr id="22" name="Text 20"/>
          <p:cNvSpPr/>
          <p:nvPr/>
        </p:nvSpPr>
        <p:spPr>
          <a:xfrm>
            <a:off x="8403233" y="29781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Start on the proposed architecture</a:t>
            </a:r>
            <a:endParaRPr lang="en-US" sz="1700" dirty="0"/>
          </a:p>
        </p:txBody>
      </p:sp>
      <p:sp>
        <p:nvSpPr>
          <p:cNvPr id="23" name="Shape 21"/>
          <p:cNvSpPr/>
          <p:nvPr/>
        </p:nvSpPr>
        <p:spPr>
          <a:xfrm>
            <a:off x="8212733" y="3714750"/>
            <a:ext cx="76200" cy="76200"/>
          </a:xfrm>
          <a:prstGeom prst="rect">
            <a:avLst/>
          </a:prstGeom>
          <a:solidFill>
            <a:srgbClr val="F2B33D"/>
          </a:solidFill>
          <a:ln/>
        </p:spPr>
      </p:sp>
      <p:sp>
        <p:nvSpPr>
          <p:cNvPr id="24" name="Text 22"/>
          <p:cNvSpPr/>
          <p:nvPr/>
        </p:nvSpPr>
        <p:spPr>
          <a:xfrm>
            <a:off x="8403233" y="37147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A thorough audit, then a two-day problem-solving session</a:t>
            </a:r>
            <a:endParaRPr lang="en-US" sz="1700" dirty="0"/>
          </a:p>
        </p:txBody>
      </p:sp>
      <p:sp>
        <p:nvSpPr>
          <p:cNvPr id="25" name="Shape 23"/>
          <p:cNvSpPr/>
          <p:nvPr/>
        </p:nvSpPr>
        <p:spPr>
          <a:xfrm>
            <a:off x="8212733" y="4451350"/>
            <a:ext cx="76200" cy="76200"/>
          </a:xfrm>
          <a:prstGeom prst="rect">
            <a:avLst/>
          </a:prstGeom>
          <a:solidFill>
            <a:srgbClr val="F2B33D"/>
          </a:solidFill>
          <a:ln/>
        </p:spPr>
      </p:sp>
      <p:sp>
        <p:nvSpPr>
          <p:cNvPr id="26" name="Text 24"/>
          <p:cNvSpPr/>
          <p:nvPr/>
        </p:nvSpPr>
        <p:spPr>
          <a:xfrm>
            <a:off x="8403233" y="4451350"/>
            <a:ext cx="2960700" cy="3238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Start the metric dictionary</a:t>
            </a:r>
            <a:endParaRPr lang="en-US" sz="1700" dirty="0"/>
          </a:p>
        </p:txBody>
      </p:sp>
      <p:sp>
        <p:nvSpPr>
          <p:cNvPr id="27" name="Text 25"/>
          <p:cNvSpPr/>
          <p:nvPr/>
        </p:nvSpPr>
        <p:spPr>
          <a:xfrm>
            <a:off x="711200" y="6400800"/>
            <a:ext cx="26162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F6B7A"/>
                </a:solidFill>
                <a:latin typeface="Arial" pitchFamily="34" charset="0"/>
                <a:ea typeface="Arial" pitchFamily="34" charset="-122"/>
                <a:cs typeface="Arial" pitchFamily="34" charset="-120"/>
              </a:rPr>
              <a:t>TA Data and Insights · Q4 2026 update</a:t>
            </a:r>
            <a:endParaRPr lang="en-US" sz="1000" dirty="0"/>
          </a:p>
        </p:txBody>
      </p:sp>
      <p:sp>
        <p:nvSpPr>
          <p:cNvPr id="28" name="Text 26"/>
          <p:cNvSpPr/>
          <p:nvPr/>
        </p:nvSpPr>
        <p:spPr>
          <a:xfrm>
            <a:off x="5508923" y="6400800"/>
            <a:ext cx="1408867" cy="203200"/>
          </a:xfrm>
          <a:prstGeom prst="rect">
            <a:avLst/>
          </a:prstGeom>
          <a:noFill/>
          <a:ln/>
        </p:spPr>
        <p:txBody>
          <a:bodyPr wrap="square" lIns="0" tIns="0" rIns="0" bIns="0" rtlCol="0" anchor="t">
            <a:normAutofit/>
          </a:bodyPr>
          <a:lstStyle/>
          <a:p>
            <a:pPr algn="l" indent="0" marL="0">
              <a:lnSpc>
                <a:spcPts val="1400"/>
              </a:lnSpc>
              <a:buNone/>
            </a:pPr>
            <a:r>
              <a:rPr lang="en-US" sz="1000" b="1" spc="150" kern="0" dirty="0">
                <a:solidFill>
                  <a:srgbClr val="5F6B7A"/>
                </a:solidFill>
                <a:latin typeface="Arial" pitchFamily="34" charset="0"/>
                <a:ea typeface="Arial" pitchFamily="34" charset="-122"/>
                <a:cs typeface="Arial" pitchFamily="34" charset="-120"/>
              </a:rPr>
              <a:t>CONFIDENTIAL</a:t>
            </a:r>
            <a:endParaRPr lang="en-US" sz="1000" dirty="0"/>
          </a:p>
        </p:txBody>
      </p:sp>
      <p:sp>
        <p:nvSpPr>
          <p:cNvPr id="29" name="Text 27"/>
          <p:cNvSpPr/>
          <p:nvPr/>
        </p:nvSpPr>
        <p:spPr>
          <a:xfrm>
            <a:off x="8864501" y="64008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5F6B7A"/>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711200" y="508000"/>
            <a:ext cx="11092688" cy="40005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D2C54"/>
                </a:solidFill>
                <a:latin typeface="Arial" pitchFamily="34" charset="0"/>
                <a:ea typeface="Arial" pitchFamily="34" charset="-122"/>
                <a:cs typeface="Arial" pitchFamily="34" charset="-120"/>
              </a:rPr>
              <a:t>What good looks like</a:t>
            </a:r>
            <a:endParaRPr lang="en-US" sz="2600" dirty="0"/>
          </a:p>
        </p:txBody>
      </p:sp>
      <p:sp>
        <p:nvSpPr>
          <p:cNvPr id="3" name="Shape 1"/>
          <p:cNvSpPr/>
          <p:nvPr/>
        </p:nvSpPr>
        <p:spPr>
          <a:xfrm>
            <a:off x="723900" y="1073150"/>
            <a:ext cx="10744200" cy="666750"/>
          </a:xfrm>
          <a:prstGeom prst="rect">
            <a:avLst/>
          </a:prstGeom>
          <a:noFill/>
          <a:ln w="25400">
            <a:solidFill>
              <a:srgbClr val="C8102E"/>
            </a:solidFill>
            <a:prstDash val="dash"/>
          </a:ln>
        </p:spPr>
      </p:sp>
      <p:sp>
        <p:nvSpPr>
          <p:cNvPr id="4" name="Text 2"/>
          <p:cNvSpPr/>
          <p:nvPr/>
        </p:nvSpPr>
        <p:spPr>
          <a:xfrm>
            <a:off x="3648770" y="1212850"/>
            <a:ext cx="335280" cy="41275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2B33D"/>
                </a:solidFill>
                <a:latin typeface="Arial" pitchFamily="34" charset="0"/>
                <a:ea typeface="Arial" pitchFamily="34" charset="-122"/>
                <a:cs typeface="Arial" pitchFamily="34" charset="-120"/>
              </a:rPr>
              <a:t>★</a:t>
            </a:r>
            <a:endParaRPr lang="en-US" sz="2200" dirty="0"/>
          </a:p>
        </p:txBody>
      </p:sp>
      <p:sp>
        <p:nvSpPr>
          <p:cNvPr id="5" name="Text 3"/>
          <p:cNvSpPr/>
          <p:nvPr/>
        </p:nvSpPr>
        <p:spPr>
          <a:xfrm>
            <a:off x="4055170" y="1228725"/>
            <a:ext cx="538567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D2C54"/>
                </a:solidFill>
                <a:latin typeface="Arial" pitchFamily="34" charset="0"/>
                <a:ea typeface="Arial" pitchFamily="34" charset="-122"/>
                <a:cs typeface="Arial" pitchFamily="34" charset="-120"/>
              </a:rPr>
              <a:t>Trusted data, ready for insight and AI</a:t>
            </a:r>
            <a:endParaRPr lang="en-US" sz="2000" dirty="0"/>
          </a:p>
        </p:txBody>
      </p:sp>
      <p:sp>
        <p:nvSpPr>
          <p:cNvPr id="6" name="Shape 4"/>
          <p:cNvSpPr/>
          <p:nvPr/>
        </p:nvSpPr>
        <p:spPr>
          <a:xfrm>
            <a:off x="2139950" y="2349500"/>
            <a:ext cx="4445000" cy="762000"/>
          </a:xfrm>
          <a:prstGeom prst="rect">
            <a:avLst/>
          </a:prstGeom>
          <a:solidFill>
            <a:srgbClr val="F2B33D"/>
          </a:solidFill>
          <a:ln/>
        </p:spPr>
      </p:sp>
      <p:sp>
        <p:nvSpPr>
          <p:cNvPr id="7" name="Text 5"/>
          <p:cNvSpPr/>
          <p:nvPr/>
        </p:nvSpPr>
        <p:spPr>
          <a:xfrm>
            <a:off x="3014424" y="2460625"/>
            <a:ext cx="2696051" cy="30480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D2C54"/>
                </a:solidFill>
                <a:latin typeface="Arial" pitchFamily="34" charset="0"/>
                <a:ea typeface="Arial" pitchFamily="34" charset="-122"/>
                <a:cs typeface="Arial" pitchFamily="34" charset="-120"/>
              </a:rPr>
              <a:t>Trusted insights and AI</a:t>
            </a:r>
            <a:endParaRPr lang="en-US" sz="1600" dirty="0"/>
          </a:p>
        </p:txBody>
      </p:sp>
      <p:sp>
        <p:nvSpPr>
          <p:cNvPr id="8" name="Text 6"/>
          <p:cNvSpPr/>
          <p:nvPr/>
        </p:nvSpPr>
        <p:spPr>
          <a:xfrm>
            <a:off x="2339350" y="2790825"/>
            <a:ext cx="4046101"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D2C54"/>
                </a:solidFill>
                <a:latin typeface="Arial" pitchFamily="34" charset="0"/>
                <a:ea typeface="Arial" pitchFamily="34" charset="-122"/>
                <a:cs typeface="Arial" pitchFamily="34" charset="-120"/>
              </a:rPr>
              <a:t>Reliable answers and AI, built on agreed numbers</a:t>
            </a:r>
            <a:endParaRPr lang="en-US" sz="1200" dirty="0"/>
          </a:p>
        </p:txBody>
      </p:sp>
      <p:sp>
        <p:nvSpPr>
          <p:cNvPr id="9" name="Shape 7"/>
          <p:cNvSpPr/>
          <p:nvPr/>
        </p:nvSpPr>
        <p:spPr>
          <a:xfrm>
            <a:off x="1663700" y="3187700"/>
            <a:ext cx="5397500" cy="762000"/>
          </a:xfrm>
          <a:prstGeom prst="rect">
            <a:avLst/>
          </a:prstGeom>
          <a:solidFill>
            <a:srgbClr val="4F81B0"/>
          </a:solidFill>
          <a:ln/>
        </p:spPr>
      </p:sp>
      <p:sp>
        <p:nvSpPr>
          <p:cNvPr id="10" name="Text 8"/>
          <p:cNvSpPr/>
          <p:nvPr/>
        </p:nvSpPr>
        <p:spPr>
          <a:xfrm>
            <a:off x="3116104" y="3298825"/>
            <a:ext cx="2492692" cy="30480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FFFFF"/>
                </a:solidFill>
                <a:latin typeface="Arial" pitchFamily="34" charset="0"/>
                <a:ea typeface="Arial" pitchFamily="34" charset="-122"/>
                <a:cs typeface="Arial" pitchFamily="34" charset="-120"/>
              </a:rPr>
              <a:t>One set of definitions</a:t>
            </a:r>
            <a:endParaRPr lang="en-US" sz="1600" dirty="0"/>
          </a:p>
        </p:txBody>
      </p:sp>
      <p:sp>
        <p:nvSpPr>
          <p:cNvPr id="11" name="Text 9"/>
          <p:cNvSpPr/>
          <p:nvPr/>
        </p:nvSpPr>
        <p:spPr>
          <a:xfrm>
            <a:off x="3330545" y="3629025"/>
            <a:ext cx="2063710"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FFF"/>
                </a:solidFill>
                <a:latin typeface="Arial" pitchFamily="34" charset="0"/>
                <a:ea typeface="Arial" pitchFamily="34" charset="-122"/>
                <a:cs typeface="Arial" pitchFamily="34" charset="-120"/>
              </a:rPr>
              <a:t>Each metric defined once</a:t>
            </a:r>
            <a:endParaRPr lang="en-US" sz="1200" dirty="0"/>
          </a:p>
        </p:txBody>
      </p:sp>
      <p:sp>
        <p:nvSpPr>
          <p:cNvPr id="12" name="Shape 10"/>
          <p:cNvSpPr/>
          <p:nvPr/>
        </p:nvSpPr>
        <p:spPr>
          <a:xfrm>
            <a:off x="1187450" y="4025900"/>
            <a:ext cx="6350000" cy="762000"/>
          </a:xfrm>
          <a:prstGeom prst="rect">
            <a:avLst/>
          </a:prstGeom>
          <a:solidFill>
            <a:srgbClr val="1F4E79"/>
          </a:solidFill>
          <a:ln/>
        </p:spPr>
      </p:sp>
      <p:sp>
        <p:nvSpPr>
          <p:cNvPr id="13" name="Text 11"/>
          <p:cNvSpPr/>
          <p:nvPr/>
        </p:nvSpPr>
        <p:spPr>
          <a:xfrm>
            <a:off x="3562836" y="4137025"/>
            <a:ext cx="1599128" cy="30480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FFFFF"/>
                </a:solidFill>
                <a:latin typeface="Arial" pitchFamily="34" charset="0"/>
                <a:ea typeface="Arial" pitchFamily="34" charset="-122"/>
                <a:cs typeface="Arial" pitchFamily="34" charset="-120"/>
              </a:rPr>
              <a:t>Shared tables</a:t>
            </a:r>
            <a:endParaRPr lang="en-US" sz="1600" dirty="0"/>
          </a:p>
        </p:txBody>
      </p:sp>
      <p:sp>
        <p:nvSpPr>
          <p:cNvPr id="14" name="Text 12"/>
          <p:cNvSpPr/>
          <p:nvPr/>
        </p:nvSpPr>
        <p:spPr>
          <a:xfrm>
            <a:off x="2756426" y="4467225"/>
            <a:ext cx="3211949"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FFF"/>
                </a:solidFill>
                <a:latin typeface="Arial" pitchFamily="34" charset="0"/>
                <a:ea typeface="Arial" pitchFamily="34" charset="-122"/>
                <a:cs typeface="Arial" pitchFamily="34" charset="-120"/>
              </a:rPr>
              <a:t>Every report reads from the same place</a:t>
            </a:r>
            <a:endParaRPr lang="en-US" sz="1200" dirty="0"/>
          </a:p>
        </p:txBody>
      </p:sp>
      <p:sp>
        <p:nvSpPr>
          <p:cNvPr id="15" name="Shape 13"/>
          <p:cNvSpPr/>
          <p:nvPr/>
        </p:nvSpPr>
        <p:spPr>
          <a:xfrm>
            <a:off x="711200" y="4864100"/>
            <a:ext cx="7302500" cy="762000"/>
          </a:xfrm>
          <a:prstGeom prst="rect">
            <a:avLst/>
          </a:prstGeom>
          <a:solidFill>
            <a:srgbClr val="0D2C54"/>
          </a:solidFill>
          <a:ln/>
        </p:spPr>
      </p:sp>
      <p:sp>
        <p:nvSpPr>
          <p:cNvPr id="16" name="Text 14"/>
          <p:cNvSpPr/>
          <p:nvPr/>
        </p:nvSpPr>
        <p:spPr>
          <a:xfrm>
            <a:off x="3393400" y="4975225"/>
            <a:ext cx="1938099" cy="30480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FFFFF"/>
                </a:solidFill>
                <a:latin typeface="Arial" pitchFamily="34" charset="0"/>
                <a:ea typeface="Arial" pitchFamily="34" charset="-122"/>
                <a:cs typeface="Arial" pitchFamily="34" charset="-120"/>
              </a:rPr>
              <a:t>Reliable sources</a:t>
            </a:r>
            <a:endParaRPr lang="en-US" sz="1600" dirty="0"/>
          </a:p>
        </p:txBody>
      </p:sp>
      <p:sp>
        <p:nvSpPr>
          <p:cNvPr id="17" name="Text 15"/>
          <p:cNvSpPr/>
          <p:nvPr/>
        </p:nvSpPr>
        <p:spPr>
          <a:xfrm>
            <a:off x="2969667" y="5305425"/>
            <a:ext cx="2785467"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FFF"/>
                </a:solidFill>
                <a:latin typeface="Arial" pitchFamily="34" charset="0"/>
                <a:ea typeface="Arial" pitchFamily="34" charset="-122"/>
                <a:cs typeface="Arial" pitchFamily="34" charset="-120"/>
              </a:rPr>
              <a:t>No hand-kept sheets or test tables</a:t>
            </a:r>
            <a:endParaRPr lang="en-US" sz="1200" dirty="0"/>
          </a:p>
        </p:txBody>
      </p:sp>
      <p:sp>
        <p:nvSpPr>
          <p:cNvPr id="18" name="Shape 16"/>
          <p:cNvSpPr/>
          <p:nvPr/>
        </p:nvSpPr>
        <p:spPr>
          <a:xfrm>
            <a:off x="8267700" y="2994025"/>
            <a:ext cx="3213100" cy="1987550"/>
          </a:xfrm>
          <a:prstGeom prst="rect">
            <a:avLst/>
          </a:prstGeom>
          <a:solidFill>
            <a:srgbClr val="F4EFE6"/>
          </a:solidFill>
          <a:ln/>
        </p:spPr>
      </p:sp>
      <p:sp>
        <p:nvSpPr>
          <p:cNvPr id="19" name="Text 17"/>
          <p:cNvSpPr/>
          <p:nvPr/>
        </p:nvSpPr>
        <p:spPr>
          <a:xfrm>
            <a:off x="8470900" y="3222625"/>
            <a:ext cx="2890901"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D2C54"/>
                </a:solidFill>
                <a:latin typeface="Arial" pitchFamily="34" charset="0"/>
                <a:ea typeface="Arial" pitchFamily="34" charset="-122"/>
                <a:cs typeface="Arial" pitchFamily="34" charset="-120"/>
              </a:rPr>
              <a:t>Read from the bottom up</a:t>
            </a:r>
            <a:endParaRPr lang="en-US" sz="1400" dirty="0"/>
          </a:p>
        </p:txBody>
      </p:sp>
      <p:sp>
        <p:nvSpPr>
          <p:cNvPr id="20" name="Shape 18"/>
          <p:cNvSpPr/>
          <p:nvPr/>
        </p:nvSpPr>
        <p:spPr>
          <a:xfrm>
            <a:off x="8470900" y="3609975"/>
            <a:ext cx="76200" cy="76200"/>
          </a:xfrm>
          <a:prstGeom prst="rect">
            <a:avLst/>
          </a:prstGeom>
          <a:solidFill>
            <a:srgbClr val="F2B33D"/>
          </a:solidFill>
          <a:ln/>
        </p:spPr>
      </p:sp>
      <p:sp>
        <p:nvSpPr>
          <p:cNvPr id="21" name="Text 19"/>
          <p:cNvSpPr/>
          <p:nvPr/>
        </p:nvSpPr>
        <p:spPr>
          <a:xfrm>
            <a:off x="8661400" y="3609975"/>
            <a:ext cx="2694686"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Each layer depends on the one below</a:t>
            </a:r>
            <a:endParaRPr lang="en-US" sz="1300" dirty="0"/>
          </a:p>
        </p:txBody>
      </p:sp>
      <p:sp>
        <p:nvSpPr>
          <p:cNvPr id="22" name="Shape 20"/>
          <p:cNvSpPr/>
          <p:nvPr/>
        </p:nvSpPr>
        <p:spPr>
          <a:xfrm>
            <a:off x="8470900" y="4181475"/>
            <a:ext cx="76200" cy="76200"/>
          </a:xfrm>
          <a:prstGeom prst="rect">
            <a:avLst/>
          </a:prstGeom>
          <a:solidFill>
            <a:srgbClr val="F2B33D"/>
          </a:solidFill>
          <a:ln/>
        </p:spPr>
      </p:sp>
      <p:sp>
        <p:nvSpPr>
          <p:cNvPr id="23" name="Text 21"/>
          <p:cNvSpPr/>
          <p:nvPr/>
        </p:nvSpPr>
        <p:spPr>
          <a:xfrm>
            <a:off x="8661400" y="4181475"/>
            <a:ext cx="2694686"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Definitions need reliable sources</a:t>
            </a:r>
            <a:endParaRPr lang="en-US" sz="1300" dirty="0"/>
          </a:p>
        </p:txBody>
      </p:sp>
      <p:sp>
        <p:nvSpPr>
          <p:cNvPr id="24" name="Shape 22"/>
          <p:cNvSpPr/>
          <p:nvPr/>
        </p:nvSpPr>
        <p:spPr>
          <a:xfrm>
            <a:off x="8470900" y="4524375"/>
            <a:ext cx="76200" cy="76200"/>
          </a:xfrm>
          <a:prstGeom prst="rect">
            <a:avLst/>
          </a:prstGeom>
          <a:solidFill>
            <a:srgbClr val="F2B33D"/>
          </a:solidFill>
          <a:ln/>
        </p:spPr>
      </p:sp>
      <p:sp>
        <p:nvSpPr>
          <p:cNvPr id="25" name="Text 23"/>
          <p:cNvSpPr/>
          <p:nvPr/>
        </p:nvSpPr>
        <p:spPr>
          <a:xfrm>
            <a:off x="8661400" y="4524375"/>
            <a:ext cx="2694686"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AI needs agreed definitions</a:t>
            </a:r>
            <a:endParaRPr lang="en-US" sz="1300" dirty="0"/>
          </a:p>
        </p:txBody>
      </p:sp>
      <p:sp>
        <p:nvSpPr>
          <p:cNvPr id="26" name="Text 24"/>
          <p:cNvSpPr/>
          <p:nvPr/>
        </p:nvSpPr>
        <p:spPr>
          <a:xfrm>
            <a:off x="711200" y="6400800"/>
            <a:ext cx="26162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F6B7A"/>
                </a:solidFill>
                <a:latin typeface="Arial" pitchFamily="34" charset="0"/>
                <a:ea typeface="Arial" pitchFamily="34" charset="-122"/>
                <a:cs typeface="Arial" pitchFamily="34" charset="-120"/>
              </a:rPr>
              <a:t>TA Data and Insights · Q4 2026 update</a:t>
            </a:r>
            <a:endParaRPr lang="en-US" sz="1000" dirty="0"/>
          </a:p>
        </p:txBody>
      </p:sp>
      <p:sp>
        <p:nvSpPr>
          <p:cNvPr id="27" name="Text 25"/>
          <p:cNvSpPr/>
          <p:nvPr/>
        </p:nvSpPr>
        <p:spPr>
          <a:xfrm>
            <a:off x="5508923" y="6400800"/>
            <a:ext cx="1408867" cy="203200"/>
          </a:xfrm>
          <a:prstGeom prst="rect">
            <a:avLst/>
          </a:prstGeom>
          <a:noFill/>
          <a:ln/>
        </p:spPr>
        <p:txBody>
          <a:bodyPr wrap="square" lIns="0" tIns="0" rIns="0" bIns="0" rtlCol="0" anchor="t">
            <a:normAutofit/>
          </a:bodyPr>
          <a:lstStyle/>
          <a:p>
            <a:pPr algn="l" indent="0" marL="0">
              <a:lnSpc>
                <a:spcPts val="1400"/>
              </a:lnSpc>
              <a:buNone/>
            </a:pPr>
            <a:r>
              <a:rPr lang="en-US" sz="1000" b="1" spc="150" kern="0" dirty="0">
                <a:solidFill>
                  <a:srgbClr val="5F6B7A"/>
                </a:solidFill>
                <a:latin typeface="Arial" pitchFamily="34" charset="0"/>
                <a:ea typeface="Arial" pitchFamily="34" charset="-122"/>
                <a:cs typeface="Arial" pitchFamily="34" charset="-120"/>
              </a:rPr>
              <a:t>CONFIDENTIAL</a:t>
            </a:r>
            <a:endParaRPr lang="en-US" sz="1000" dirty="0"/>
          </a:p>
        </p:txBody>
      </p:sp>
      <p:sp>
        <p:nvSpPr>
          <p:cNvPr id="28" name="Text 26"/>
          <p:cNvSpPr/>
          <p:nvPr/>
        </p:nvSpPr>
        <p:spPr>
          <a:xfrm>
            <a:off x="8864501" y="64008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5F6B7A"/>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711200" y="508000"/>
            <a:ext cx="11092688" cy="40005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D2C54"/>
                </a:solidFill>
                <a:latin typeface="Arial" pitchFamily="34" charset="0"/>
                <a:ea typeface="Arial" pitchFamily="34" charset="-122"/>
                <a:cs typeface="Arial" pitchFamily="34" charset="-120"/>
              </a:rPr>
              <a:t>Current state</a:t>
            </a:r>
            <a:endParaRPr lang="en-US" sz="2600" dirty="0"/>
          </a:p>
        </p:txBody>
      </p:sp>
      <p:sp>
        <p:nvSpPr>
          <p:cNvPr id="3" name="Text 1"/>
          <p:cNvSpPr/>
          <p:nvPr/>
        </p:nvSpPr>
        <p:spPr>
          <a:xfrm>
            <a:off x="711200" y="1009650"/>
            <a:ext cx="2578100" cy="635000"/>
          </a:xfrm>
          <a:prstGeom prst="rect">
            <a:avLst/>
          </a:prstGeom>
          <a:solidFill>
            <a:srgbClr val="0D2C54"/>
          </a:solidFill>
          <a:ln/>
        </p:spPr>
        <p:txBody>
          <a:bodyPr wrap="square" lIns="118301" tIns="0" rIns="118301"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Business logic in dashboards</a:t>
            </a:r>
            <a:endParaRPr lang="en-US" sz="1500" dirty="0"/>
          </a:p>
        </p:txBody>
      </p:sp>
      <p:sp>
        <p:nvSpPr>
          <p:cNvPr id="4" name="Shape 2"/>
          <p:cNvSpPr/>
          <p:nvPr/>
        </p:nvSpPr>
        <p:spPr>
          <a:xfrm>
            <a:off x="711200" y="1644650"/>
            <a:ext cx="2578100" cy="2787650"/>
          </a:xfrm>
          <a:prstGeom prst="rect">
            <a:avLst/>
          </a:prstGeom>
          <a:solidFill>
            <a:srgbClr val="DCEBF2"/>
          </a:solidFill>
          <a:ln/>
        </p:spPr>
      </p:sp>
      <p:sp>
        <p:nvSpPr>
          <p:cNvPr id="5" name="Shape 3"/>
          <p:cNvSpPr/>
          <p:nvPr/>
        </p:nvSpPr>
        <p:spPr>
          <a:xfrm>
            <a:off x="914400" y="1873250"/>
            <a:ext cx="76200" cy="76200"/>
          </a:xfrm>
          <a:prstGeom prst="rect">
            <a:avLst/>
          </a:prstGeom>
          <a:solidFill>
            <a:srgbClr val="F2B33D"/>
          </a:solidFill>
          <a:ln/>
        </p:spPr>
      </p:sp>
      <p:sp>
        <p:nvSpPr>
          <p:cNvPr id="6" name="Text 4"/>
          <p:cNvSpPr/>
          <p:nvPr/>
        </p:nvSpPr>
        <p:spPr>
          <a:xfrm>
            <a:off x="1104900" y="1873250"/>
            <a:ext cx="2040636" cy="844550"/>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1F2933"/>
                </a:solidFill>
                <a:latin typeface="Arial" pitchFamily="34" charset="0"/>
                <a:ea typeface="Arial" pitchFamily="34" charset="-122"/>
                <a:cs typeface="Arial" pitchFamily="34" charset="-120"/>
              </a:rPr>
              <a:t>Complex business logic lives within the dashboards</a:t>
            </a:r>
            <a:endParaRPr lang="en-US" sz="1550" dirty="0"/>
          </a:p>
        </p:txBody>
      </p:sp>
      <p:sp>
        <p:nvSpPr>
          <p:cNvPr id="7" name="Text 5"/>
          <p:cNvSpPr/>
          <p:nvPr/>
        </p:nvSpPr>
        <p:spPr>
          <a:xfrm>
            <a:off x="3441700" y="1009650"/>
            <a:ext cx="2578100"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Layers of tables</a:t>
            </a:r>
            <a:endParaRPr lang="en-US" sz="1500" dirty="0"/>
          </a:p>
        </p:txBody>
      </p:sp>
      <p:sp>
        <p:nvSpPr>
          <p:cNvPr id="8" name="Shape 6"/>
          <p:cNvSpPr/>
          <p:nvPr/>
        </p:nvSpPr>
        <p:spPr>
          <a:xfrm>
            <a:off x="3441700" y="1644650"/>
            <a:ext cx="2578100" cy="2787650"/>
          </a:xfrm>
          <a:prstGeom prst="rect">
            <a:avLst/>
          </a:prstGeom>
          <a:solidFill>
            <a:srgbClr val="DCEBF2"/>
          </a:solidFill>
          <a:ln/>
        </p:spPr>
      </p:sp>
      <p:sp>
        <p:nvSpPr>
          <p:cNvPr id="9" name="Shape 7"/>
          <p:cNvSpPr/>
          <p:nvPr/>
        </p:nvSpPr>
        <p:spPr>
          <a:xfrm>
            <a:off x="3644900" y="1873250"/>
            <a:ext cx="76200" cy="76200"/>
          </a:xfrm>
          <a:prstGeom prst="rect">
            <a:avLst/>
          </a:prstGeom>
          <a:solidFill>
            <a:srgbClr val="F2B33D"/>
          </a:solidFill>
          <a:ln/>
        </p:spPr>
      </p:sp>
      <p:sp>
        <p:nvSpPr>
          <p:cNvPr id="10" name="Text 8"/>
          <p:cNvSpPr/>
          <p:nvPr/>
        </p:nvSpPr>
        <p:spPr>
          <a:xfrm>
            <a:off x="3835400" y="1873250"/>
            <a:ext cx="2040636" cy="1117600"/>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1F2933"/>
                </a:solidFill>
                <a:latin typeface="Arial" pitchFamily="34" charset="0"/>
                <a:ea typeface="Arial" pitchFamily="34" charset="-122"/>
                <a:cs typeface="Arial" pitchFamily="34" charset="-120"/>
              </a:rPr>
              <a:t>Tables built on top of tables, each so one product can pull from it</a:t>
            </a:r>
            <a:endParaRPr lang="en-US" sz="1550" dirty="0"/>
          </a:p>
        </p:txBody>
      </p:sp>
      <p:sp>
        <p:nvSpPr>
          <p:cNvPr id="11" name="Shape 9"/>
          <p:cNvSpPr/>
          <p:nvPr/>
        </p:nvSpPr>
        <p:spPr>
          <a:xfrm>
            <a:off x="3644900" y="3105150"/>
            <a:ext cx="76200" cy="76200"/>
          </a:xfrm>
          <a:prstGeom prst="rect">
            <a:avLst/>
          </a:prstGeom>
          <a:solidFill>
            <a:srgbClr val="F2B33D"/>
          </a:solidFill>
          <a:ln/>
        </p:spPr>
      </p:sp>
      <p:sp>
        <p:nvSpPr>
          <p:cNvPr id="12" name="Text 10"/>
          <p:cNvSpPr/>
          <p:nvPr/>
        </p:nvSpPr>
        <p:spPr>
          <a:xfrm>
            <a:off x="3835400" y="3105150"/>
            <a:ext cx="2040636" cy="844550"/>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1F2933"/>
                </a:solidFill>
                <a:latin typeface="Arial" pitchFamily="34" charset="0"/>
                <a:ea typeface="Arial" pitchFamily="34" charset="-122"/>
                <a:cs typeface="Arial" pitchFamily="34" charset="-120"/>
              </a:rPr>
              <a:t>Different products read from different tables</a:t>
            </a:r>
            <a:endParaRPr lang="en-US" sz="1550" dirty="0"/>
          </a:p>
        </p:txBody>
      </p:sp>
      <p:sp>
        <p:nvSpPr>
          <p:cNvPr id="13" name="Text 11"/>
          <p:cNvSpPr/>
          <p:nvPr/>
        </p:nvSpPr>
        <p:spPr>
          <a:xfrm>
            <a:off x="6172200" y="1009650"/>
            <a:ext cx="2578100"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Many similar reports</a:t>
            </a:r>
            <a:endParaRPr lang="en-US" sz="1500" dirty="0"/>
          </a:p>
        </p:txBody>
      </p:sp>
      <p:sp>
        <p:nvSpPr>
          <p:cNvPr id="14" name="Shape 12"/>
          <p:cNvSpPr/>
          <p:nvPr/>
        </p:nvSpPr>
        <p:spPr>
          <a:xfrm>
            <a:off x="6172200" y="1644650"/>
            <a:ext cx="2578100" cy="2787650"/>
          </a:xfrm>
          <a:prstGeom prst="rect">
            <a:avLst/>
          </a:prstGeom>
          <a:solidFill>
            <a:srgbClr val="DCEBF2"/>
          </a:solidFill>
          <a:ln/>
        </p:spPr>
      </p:sp>
      <p:sp>
        <p:nvSpPr>
          <p:cNvPr id="15" name="Shape 13"/>
          <p:cNvSpPr/>
          <p:nvPr/>
        </p:nvSpPr>
        <p:spPr>
          <a:xfrm>
            <a:off x="6375400" y="1873250"/>
            <a:ext cx="76200" cy="76200"/>
          </a:xfrm>
          <a:prstGeom prst="rect">
            <a:avLst/>
          </a:prstGeom>
          <a:solidFill>
            <a:srgbClr val="F2B33D"/>
          </a:solidFill>
          <a:ln/>
        </p:spPr>
      </p:sp>
      <p:sp>
        <p:nvSpPr>
          <p:cNvPr id="16" name="Text 14"/>
          <p:cNvSpPr/>
          <p:nvPr/>
        </p:nvSpPr>
        <p:spPr>
          <a:xfrm>
            <a:off x="6565900" y="1873250"/>
            <a:ext cx="2040636" cy="571500"/>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1F2933"/>
                </a:solidFill>
                <a:latin typeface="Arial" pitchFamily="34" charset="0"/>
                <a:ea typeface="Arial" pitchFamily="34" charset="-122"/>
                <a:cs typeface="Arial" pitchFamily="34" charset="-120"/>
              </a:rPr>
              <a:t>Similar reports grew side by side</a:t>
            </a:r>
            <a:endParaRPr lang="en-US" sz="1550" dirty="0"/>
          </a:p>
        </p:txBody>
      </p:sp>
      <p:sp>
        <p:nvSpPr>
          <p:cNvPr id="17" name="Shape 15"/>
          <p:cNvSpPr/>
          <p:nvPr/>
        </p:nvSpPr>
        <p:spPr>
          <a:xfrm>
            <a:off x="6375400" y="2559050"/>
            <a:ext cx="76200" cy="76200"/>
          </a:xfrm>
          <a:prstGeom prst="rect">
            <a:avLst/>
          </a:prstGeom>
          <a:solidFill>
            <a:srgbClr val="F2B33D"/>
          </a:solidFill>
          <a:ln/>
        </p:spPr>
      </p:sp>
      <p:sp>
        <p:nvSpPr>
          <p:cNvPr id="18" name="Text 16"/>
          <p:cNvSpPr/>
          <p:nvPr/>
        </p:nvSpPr>
        <p:spPr>
          <a:xfrm>
            <a:off x="6565900" y="2559050"/>
            <a:ext cx="2040636" cy="844550"/>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1F2933"/>
                </a:solidFill>
                <a:latin typeface="Arial" pitchFamily="34" charset="0"/>
                <a:ea typeface="Arial" pitchFamily="34" charset="-122"/>
                <a:cs typeface="Arial" pitchFamily="34" charset="-120"/>
              </a:rPr>
              <a:t>Each has its own version of the numbers</a:t>
            </a:r>
            <a:endParaRPr lang="en-US" sz="1550" dirty="0"/>
          </a:p>
        </p:txBody>
      </p:sp>
      <p:sp>
        <p:nvSpPr>
          <p:cNvPr id="19" name="Text 17"/>
          <p:cNvSpPr/>
          <p:nvPr/>
        </p:nvSpPr>
        <p:spPr>
          <a:xfrm>
            <a:off x="8902700" y="1009650"/>
            <a:ext cx="2578100"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Manual upkeep</a:t>
            </a:r>
            <a:endParaRPr lang="en-US" sz="1500" dirty="0"/>
          </a:p>
        </p:txBody>
      </p:sp>
      <p:sp>
        <p:nvSpPr>
          <p:cNvPr id="20" name="Shape 18"/>
          <p:cNvSpPr/>
          <p:nvPr/>
        </p:nvSpPr>
        <p:spPr>
          <a:xfrm>
            <a:off x="8902700" y="1644650"/>
            <a:ext cx="2578100" cy="2787650"/>
          </a:xfrm>
          <a:prstGeom prst="rect">
            <a:avLst/>
          </a:prstGeom>
          <a:solidFill>
            <a:srgbClr val="DCEBF2"/>
          </a:solidFill>
          <a:ln/>
        </p:spPr>
      </p:sp>
      <p:sp>
        <p:nvSpPr>
          <p:cNvPr id="21" name="Shape 19"/>
          <p:cNvSpPr/>
          <p:nvPr/>
        </p:nvSpPr>
        <p:spPr>
          <a:xfrm>
            <a:off x="9105900" y="1873250"/>
            <a:ext cx="76200" cy="76200"/>
          </a:xfrm>
          <a:prstGeom prst="rect">
            <a:avLst/>
          </a:prstGeom>
          <a:solidFill>
            <a:srgbClr val="F2B33D"/>
          </a:solidFill>
          <a:ln/>
        </p:spPr>
      </p:sp>
      <p:sp>
        <p:nvSpPr>
          <p:cNvPr id="22" name="Text 20"/>
          <p:cNvSpPr/>
          <p:nvPr/>
        </p:nvSpPr>
        <p:spPr>
          <a:xfrm>
            <a:off x="9296400" y="1873250"/>
            <a:ext cx="2040636" cy="844550"/>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1F2933"/>
                </a:solidFill>
                <a:latin typeface="Arial" pitchFamily="34" charset="0"/>
                <a:ea typeface="Arial" pitchFamily="34" charset="-122"/>
                <a:cs typeface="Arial" pitchFamily="34" charset="-120"/>
              </a:rPr>
              <a:t>Keeping it all running takes a lot of checking and fixing by hand</a:t>
            </a:r>
            <a:endParaRPr lang="en-US" sz="1550" dirty="0"/>
          </a:p>
        </p:txBody>
      </p:sp>
      <p:pic>
        <p:nvPicPr>
          <p:cNvPr id="23" name="Image 0" descr="connector">    </p:cNvPr>
          <p:cNvPicPr>
            <a:picLocks noChangeAspect="1"/>
          </p:cNvPicPr>
          <p:nvPr/>
        </p:nvPicPr>
        <p:blipFill>
          <a:blip r:embed="rId1"/>
          <a:srcRect l="0" r="0" t="0" b="0"/>
          <a:stretch/>
        </p:blipFill>
        <p:spPr>
          <a:xfrm>
            <a:off x="5695950" y="4559300"/>
            <a:ext cx="800100" cy="1244600"/>
          </a:xfrm>
          <a:prstGeom prst="rect">
            <a:avLst/>
          </a:prstGeom>
        </p:spPr>
      </p:pic>
      <p:sp>
        <p:nvSpPr>
          <p:cNvPr id="24" name="Shape 21"/>
          <p:cNvSpPr/>
          <p:nvPr/>
        </p:nvSpPr>
        <p:spPr>
          <a:xfrm>
            <a:off x="711200" y="5168900"/>
            <a:ext cx="10769600" cy="876300"/>
          </a:xfrm>
          <a:prstGeom prst="rect">
            <a:avLst/>
          </a:prstGeom>
          <a:solidFill>
            <a:srgbClr val="F2B33D"/>
          </a:solidFill>
          <a:ln/>
        </p:spPr>
      </p:sp>
      <p:sp>
        <p:nvSpPr>
          <p:cNvPr id="25" name="Text 22"/>
          <p:cNvSpPr/>
          <p:nvPr/>
        </p:nvSpPr>
        <p:spPr>
          <a:xfrm>
            <a:off x="939800" y="5473700"/>
            <a:ext cx="16892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2C54"/>
                </a:solidFill>
                <a:latin typeface="Arial" pitchFamily="34" charset="0"/>
                <a:ea typeface="Arial" pitchFamily="34" charset="-122"/>
                <a:cs typeface="Arial" pitchFamily="34" charset="-120"/>
              </a:rPr>
              <a:t>What it costs us</a:t>
            </a:r>
            <a:endParaRPr lang="en-US" sz="1500" dirty="0"/>
          </a:p>
        </p:txBody>
      </p:sp>
      <p:sp>
        <p:nvSpPr>
          <p:cNvPr id="26" name="Text 23"/>
          <p:cNvSpPr/>
          <p:nvPr/>
        </p:nvSpPr>
        <p:spPr>
          <a:xfrm>
            <a:off x="2629098" y="5308600"/>
            <a:ext cx="2755801" cy="596900"/>
          </a:xfrm>
          <a:prstGeom prst="rect">
            <a:avLst/>
          </a:prstGeom>
          <a:solidFill>
            <a:srgbClr val="FFFFFF"/>
          </a:solidFill>
          <a:ln/>
        </p:spPr>
        <p:txBody>
          <a:bodyPr wrap="square" lIns="89473" tIns="101600" rIns="89473" bIns="76200" rtlCol="0" anchor="t">
            <a:normAutofit/>
          </a:bodyPr>
          <a:lstStyle/>
          <a:p>
            <a:pPr algn="ctr" indent="0" marL="0">
              <a:lnSpc>
                <a:spcPts val="1560"/>
              </a:lnSpc>
              <a:buNone/>
            </a:pPr>
            <a:r>
              <a:rPr lang="en-US" sz="1200" b="1" dirty="0">
                <a:solidFill>
                  <a:srgbClr val="0D2C54"/>
                </a:solidFill>
                <a:latin typeface="Arial" pitchFamily="34" charset="0"/>
                <a:ea typeface="Arial" pitchFamily="34" charset="-122"/>
                <a:cs typeface="Arial" pitchFamily="34" charset="-120"/>
              </a:rPr>
              <a:t>Meetings spent reconciling numbers</a:t>
            </a:r>
            <a:endParaRPr lang="en-US" sz="1200" dirty="0"/>
          </a:p>
        </p:txBody>
      </p:sp>
      <p:sp>
        <p:nvSpPr>
          <p:cNvPr id="27" name="Text 24"/>
          <p:cNvSpPr/>
          <p:nvPr/>
        </p:nvSpPr>
        <p:spPr>
          <a:xfrm>
            <a:off x="5562699" y="5308600"/>
            <a:ext cx="2755801" cy="596900"/>
          </a:xfrm>
          <a:prstGeom prst="rect">
            <a:avLst/>
          </a:prstGeom>
          <a:solidFill>
            <a:srgbClr val="FFFFFF"/>
          </a:solidFill>
          <a:ln/>
        </p:spPr>
        <p:txBody>
          <a:bodyPr wrap="square" lIns="89473" tIns="101600" rIns="89473" bIns="101600" rtlCol="0" anchor="t">
            <a:normAutofit/>
          </a:bodyPr>
          <a:lstStyle/>
          <a:p>
            <a:pPr algn="ctr" indent="0" marL="0">
              <a:lnSpc>
                <a:spcPts val="1560"/>
              </a:lnSpc>
              <a:buNone/>
            </a:pPr>
            <a:r>
              <a:rPr lang="en-US" sz="1200" b="1" dirty="0">
                <a:solidFill>
                  <a:srgbClr val="0D2C54"/>
                </a:solidFill>
                <a:latin typeface="Arial" pitchFamily="34" charset="0"/>
                <a:ea typeface="Arial" pitchFamily="34" charset="-122"/>
                <a:cs typeface="Arial" pitchFamily="34" charset="-120"/>
              </a:rPr>
              <a:t>Errors from manual steps</a:t>
            </a:r>
            <a:endParaRPr lang="en-US" sz="1200" dirty="0"/>
          </a:p>
        </p:txBody>
      </p:sp>
      <p:sp>
        <p:nvSpPr>
          <p:cNvPr id="28" name="Text 25"/>
          <p:cNvSpPr/>
          <p:nvPr/>
        </p:nvSpPr>
        <p:spPr>
          <a:xfrm>
            <a:off x="8496300" y="5308600"/>
            <a:ext cx="2755801" cy="596900"/>
          </a:xfrm>
          <a:prstGeom prst="rect">
            <a:avLst/>
          </a:prstGeom>
          <a:solidFill>
            <a:srgbClr val="FFFFFF"/>
          </a:solidFill>
          <a:ln/>
        </p:spPr>
        <p:txBody>
          <a:bodyPr wrap="square" lIns="89473" tIns="101600" rIns="89473" bIns="76200" rtlCol="0" anchor="t">
            <a:normAutofit/>
          </a:bodyPr>
          <a:lstStyle/>
          <a:p>
            <a:pPr algn="ctr" indent="0" marL="0">
              <a:lnSpc>
                <a:spcPts val="1560"/>
              </a:lnSpc>
              <a:buNone/>
            </a:pPr>
            <a:r>
              <a:rPr lang="en-US" sz="1200" b="1" dirty="0">
                <a:solidFill>
                  <a:srgbClr val="0D2C54"/>
                </a:solidFill>
                <a:latin typeface="Arial" pitchFamily="34" charset="0"/>
                <a:ea typeface="Arial" pitchFamily="34" charset="-122"/>
                <a:cs typeface="Arial" pitchFamily="34" charset="-120"/>
              </a:rPr>
              <a:t>Time on upkeep, not business questions</a:t>
            </a:r>
            <a:endParaRPr lang="en-US" sz="1200" dirty="0"/>
          </a:p>
        </p:txBody>
      </p:sp>
      <p:sp>
        <p:nvSpPr>
          <p:cNvPr id="29" name="Text 26"/>
          <p:cNvSpPr/>
          <p:nvPr/>
        </p:nvSpPr>
        <p:spPr>
          <a:xfrm>
            <a:off x="711200" y="6400800"/>
            <a:ext cx="26162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F6B7A"/>
                </a:solidFill>
                <a:latin typeface="Arial" pitchFamily="34" charset="0"/>
                <a:ea typeface="Arial" pitchFamily="34" charset="-122"/>
                <a:cs typeface="Arial" pitchFamily="34" charset="-120"/>
              </a:rPr>
              <a:t>TA Data and Insights · Q4 2026 update</a:t>
            </a:r>
            <a:endParaRPr lang="en-US" sz="1000" dirty="0"/>
          </a:p>
        </p:txBody>
      </p:sp>
      <p:sp>
        <p:nvSpPr>
          <p:cNvPr id="30" name="Text 27"/>
          <p:cNvSpPr/>
          <p:nvPr/>
        </p:nvSpPr>
        <p:spPr>
          <a:xfrm>
            <a:off x="5508923" y="6400800"/>
            <a:ext cx="1408867" cy="203200"/>
          </a:xfrm>
          <a:prstGeom prst="rect">
            <a:avLst/>
          </a:prstGeom>
          <a:noFill/>
          <a:ln/>
        </p:spPr>
        <p:txBody>
          <a:bodyPr wrap="square" lIns="0" tIns="0" rIns="0" bIns="0" rtlCol="0" anchor="t">
            <a:normAutofit/>
          </a:bodyPr>
          <a:lstStyle/>
          <a:p>
            <a:pPr algn="l" indent="0" marL="0">
              <a:lnSpc>
                <a:spcPts val="1400"/>
              </a:lnSpc>
              <a:buNone/>
            </a:pPr>
            <a:r>
              <a:rPr lang="en-US" sz="1000" b="1" spc="150" kern="0" dirty="0">
                <a:solidFill>
                  <a:srgbClr val="5F6B7A"/>
                </a:solidFill>
                <a:latin typeface="Arial" pitchFamily="34" charset="0"/>
                <a:ea typeface="Arial" pitchFamily="34" charset="-122"/>
                <a:cs typeface="Arial" pitchFamily="34" charset="-120"/>
              </a:rPr>
              <a:t>CONFIDENTIAL</a:t>
            </a:r>
            <a:endParaRPr lang="en-US" sz="1000" dirty="0"/>
          </a:p>
        </p:txBody>
      </p:sp>
      <p:sp>
        <p:nvSpPr>
          <p:cNvPr id="31" name="Text 28"/>
          <p:cNvSpPr/>
          <p:nvPr/>
        </p:nvSpPr>
        <p:spPr>
          <a:xfrm>
            <a:off x="8864501" y="64008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5F6B7A"/>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711200" y="508000"/>
            <a:ext cx="11092688" cy="40005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D2C54"/>
                </a:solidFill>
                <a:latin typeface="Arial" pitchFamily="34" charset="0"/>
                <a:ea typeface="Arial" pitchFamily="34" charset="-122"/>
                <a:cs typeface="Arial" pitchFamily="34" charset="-120"/>
              </a:rPr>
              <a:t>Restoring trust in our data and products</a:t>
            </a:r>
            <a:endParaRPr lang="en-US" sz="2600" dirty="0"/>
          </a:p>
        </p:txBody>
      </p:sp>
      <p:sp>
        <p:nvSpPr>
          <p:cNvPr id="3" name="Text 1"/>
          <p:cNvSpPr/>
          <p:nvPr/>
        </p:nvSpPr>
        <p:spPr>
          <a:xfrm>
            <a:off x="711200" y="1028700"/>
            <a:ext cx="976412" cy="21590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5F6B7A"/>
                </a:solidFill>
                <a:latin typeface="Arial" pitchFamily="34" charset="0"/>
                <a:ea typeface="Arial" pitchFamily="34" charset="-122"/>
                <a:cs typeface="Arial" pitchFamily="34" charset="-120"/>
              </a:rPr>
              <a:t>QUICK WIN</a:t>
            </a:r>
            <a:endParaRPr lang="en-US" sz="1100" dirty="0"/>
          </a:p>
        </p:txBody>
      </p:sp>
      <p:sp>
        <p:nvSpPr>
          <p:cNvPr id="4" name="Text 2"/>
          <p:cNvSpPr/>
          <p:nvPr/>
        </p:nvSpPr>
        <p:spPr>
          <a:xfrm>
            <a:off x="1687612" y="1009650"/>
            <a:ext cx="485477" cy="228600"/>
          </a:xfrm>
          <a:prstGeom prst="rect">
            <a:avLst/>
          </a:prstGeom>
          <a:solidFill>
            <a:srgbClr val="2E7D4F"/>
          </a:solidFill>
          <a:ln/>
        </p:spPr>
        <p:txBody>
          <a:bodyPr wrap="none" lIns="0" tIns="0" rIns="0" bIns="0" rtlCol="0" anchor="ctr">
            <a:normAutofit/>
          </a:bodyPr>
          <a:lstStyle/>
          <a:p>
            <a:pPr algn="ctr" indent="0" marL="0">
              <a:lnSpc>
                <a:spcPts val="1400"/>
              </a:lnSpc>
              <a:buNone/>
            </a:pPr>
            <a:r>
              <a:rPr lang="en-US" sz="1000" b="1" spc="50" kern="0" dirty="0">
                <a:solidFill>
                  <a:srgbClr val="FFFFFF"/>
                </a:solidFill>
                <a:latin typeface="Arial" pitchFamily="34" charset="0"/>
                <a:ea typeface="Arial" pitchFamily="34" charset="-122"/>
                <a:cs typeface="Arial" pitchFamily="34" charset="-120"/>
              </a:rPr>
              <a:t>LIVE</a:t>
            </a:r>
            <a:endParaRPr lang="en-US" sz="1000" dirty="0"/>
          </a:p>
        </p:txBody>
      </p:sp>
      <p:sp>
        <p:nvSpPr>
          <p:cNvPr id="5" name="Text 3"/>
          <p:cNvSpPr/>
          <p:nvPr/>
        </p:nvSpPr>
        <p:spPr>
          <a:xfrm>
            <a:off x="711200" y="1301750"/>
            <a:ext cx="3471366"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Monitor proactively</a:t>
            </a:r>
            <a:endParaRPr lang="en-US" sz="1500" dirty="0"/>
          </a:p>
        </p:txBody>
      </p:sp>
      <p:sp>
        <p:nvSpPr>
          <p:cNvPr id="6" name="Shape 4"/>
          <p:cNvSpPr/>
          <p:nvPr/>
        </p:nvSpPr>
        <p:spPr>
          <a:xfrm>
            <a:off x="711200" y="1936750"/>
            <a:ext cx="3471366" cy="2787650"/>
          </a:xfrm>
          <a:prstGeom prst="rect">
            <a:avLst/>
          </a:prstGeom>
          <a:solidFill>
            <a:srgbClr val="DCEBF2"/>
          </a:solidFill>
          <a:ln/>
        </p:spPr>
      </p:sp>
      <p:sp>
        <p:nvSpPr>
          <p:cNvPr id="7" name="Shape 5"/>
          <p:cNvSpPr/>
          <p:nvPr/>
        </p:nvSpPr>
        <p:spPr>
          <a:xfrm>
            <a:off x="914400" y="2165350"/>
            <a:ext cx="76200" cy="76200"/>
          </a:xfrm>
          <a:prstGeom prst="rect">
            <a:avLst/>
          </a:prstGeom>
          <a:solidFill>
            <a:srgbClr val="F2B33D"/>
          </a:solidFill>
          <a:ln/>
        </p:spPr>
      </p:sp>
      <p:sp>
        <p:nvSpPr>
          <p:cNvPr id="8" name="Text 6"/>
          <p:cNvSpPr/>
          <p:nvPr/>
        </p:nvSpPr>
        <p:spPr>
          <a:xfrm>
            <a:off x="1104900" y="2165350"/>
            <a:ext cx="2960700" cy="3238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Catch failed refreshes early</a:t>
            </a:r>
            <a:endParaRPr lang="en-US" sz="1700" dirty="0"/>
          </a:p>
        </p:txBody>
      </p:sp>
      <p:sp>
        <p:nvSpPr>
          <p:cNvPr id="9" name="Shape 7"/>
          <p:cNvSpPr/>
          <p:nvPr/>
        </p:nvSpPr>
        <p:spPr>
          <a:xfrm>
            <a:off x="914400" y="2603500"/>
            <a:ext cx="76200" cy="76200"/>
          </a:xfrm>
          <a:prstGeom prst="rect">
            <a:avLst/>
          </a:prstGeom>
          <a:solidFill>
            <a:srgbClr val="F2B33D"/>
          </a:solidFill>
          <a:ln/>
        </p:spPr>
      </p:sp>
      <p:sp>
        <p:nvSpPr>
          <p:cNvPr id="10" name="Text 8"/>
          <p:cNvSpPr/>
          <p:nvPr/>
        </p:nvSpPr>
        <p:spPr>
          <a:xfrm>
            <a:off x="1104900" y="2603500"/>
            <a:ext cx="2960700" cy="3238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Fix them before users notice</a:t>
            </a:r>
            <a:endParaRPr lang="en-US" sz="1700" dirty="0"/>
          </a:p>
        </p:txBody>
      </p:sp>
      <p:sp>
        <p:nvSpPr>
          <p:cNvPr id="11" name="Text 9"/>
          <p:cNvSpPr/>
          <p:nvPr/>
        </p:nvSpPr>
        <p:spPr>
          <a:xfrm>
            <a:off x="4360366" y="1028700"/>
            <a:ext cx="976412" cy="21590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5F6B7A"/>
                </a:solidFill>
                <a:latin typeface="Arial" pitchFamily="34" charset="0"/>
                <a:ea typeface="Arial" pitchFamily="34" charset="-122"/>
                <a:cs typeface="Arial" pitchFamily="34" charset="-120"/>
              </a:rPr>
              <a:t>QUICK WIN</a:t>
            </a:r>
            <a:endParaRPr lang="en-US" sz="1100" dirty="0"/>
          </a:p>
        </p:txBody>
      </p:sp>
      <p:sp>
        <p:nvSpPr>
          <p:cNvPr id="12" name="Text 10"/>
          <p:cNvSpPr/>
          <p:nvPr/>
        </p:nvSpPr>
        <p:spPr>
          <a:xfrm>
            <a:off x="5336778" y="1009650"/>
            <a:ext cx="953988" cy="228600"/>
          </a:xfrm>
          <a:prstGeom prst="rect">
            <a:avLst/>
          </a:prstGeom>
          <a:solidFill>
            <a:srgbClr val="F2B33D"/>
          </a:solidFill>
          <a:ln/>
        </p:spPr>
        <p:txBody>
          <a:bodyPr wrap="none" lIns="0" tIns="0" rIns="0" bIns="0" rtlCol="0" anchor="ctr">
            <a:normAutofit/>
          </a:bodyPr>
          <a:lstStyle/>
          <a:p>
            <a:pPr algn="ctr" indent="0" marL="0">
              <a:lnSpc>
                <a:spcPts val="1400"/>
              </a:lnSpc>
              <a:buNone/>
            </a:pPr>
            <a:r>
              <a:rPr lang="en-US" sz="1000" b="1" spc="50" kern="0" dirty="0">
                <a:solidFill>
                  <a:srgbClr val="0D2C54"/>
                </a:solidFill>
                <a:latin typeface="Arial" pitchFamily="34" charset="0"/>
                <a:ea typeface="Arial" pitchFamily="34" charset="-122"/>
                <a:cs typeface="Arial" pitchFamily="34" charset="-120"/>
              </a:rPr>
              <a:t>IN TESTING</a:t>
            </a:r>
            <a:endParaRPr lang="en-US" sz="1000" dirty="0"/>
          </a:p>
        </p:txBody>
      </p:sp>
      <p:sp>
        <p:nvSpPr>
          <p:cNvPr id="13" name="Text 11"/>
          <p:cNvSpPr/>
          <p:nvPr/>
        </p:nvSpPr>
        <p:spPr>
          <a:xfrm>
            <a:off x="4360366" y="1301750"/>
            <a:ext cx="3471366" cy="635000"/>
          </a:xfrm>
          <a:prstGeom prst="rect">
            <a:avLst/>
          </a:prstGeom>
          <a:solidFill>
            <a:srgbClr val="0D2C54"/>
          </a:solidFill>
          <a:ln/>
        </p:spPr>
        <p:txBody>
          <a:bodyPr wrap="square" lIns="104902" tIns="0" rIns="104902"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Answer questions with an AI assistant</a:t>
            </a:r>
            <a:endParaRPr lang="en-US" sz="1500" dirty="0"/>
          </a:p>
        </p:txBody>
      </p:sp>
      <p:sp>
        <p:nvSpPr>
          <p:cNvPr id="14" name="Shape 12"/>
          <p:cNvSpPr/>
          <p:nvPr/>
        </p:nvSpPr>
        <p:spPr>
          <a:xfrm>
            <a:off x="4360366" y="1936750"/>
            <a:ext cx="3471366" cy="2787650"/>
          </a:xfrm>
          <a:prstGeom prst="rect">
            <a:avLst/>
          </a:prstGeom>
          <a:solidFill>
            <a:srgbClr val="DCEBF2"/>
          </a:solidFill>
          <a:ln/>
        </p:spPr>
      </p:sp>
      <p:sp>
        <p:nvSpPr>
          <p:cNvPr id="15" name="Shape 13"/>
          <p:cNvSpPr/>
          <p:nvPr/>
        </p:nvSpPr>
        <p:spPr>
          <a:xfrm>
            <a:off x="4563566" y="2165350"/>
            <a:ext cx="76200" cy="76200"/>
          </a:xfrm>
          <a:prstGeom prst="rect">
            <a:avLst/>
          </a:prstGeom>
          <a:solidFill>
            <a:srgbClr val="F2B33D"/>
          </a:solidFill>
          <a:ln/>
        </p:spPr>
      </p:sp>
      <p:sp>
        <p:nvSpPr>
          <p:cNvPr id="16" name="Text 14"/>
          <p:cNvSpPr/>
          <p:nvPr/>
        </p:nvSpPr>
        <p:spPr>
          <a:xfrm>
            <a:off x="4754066" y="21653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Answers routine questions instantly</a:t>
            </a:r>
            <a:endParaRPr lang="en-US" sz="1700" dirty="0"/>
          </a:p>
        </p:txBody>
      </p:sp>
      <p:sp>
        <p:nvSpPr>
          <p:cNvPr id="17" name="Shape 15"/>
          <p:cNvSpPr/>
          <p:nvPr/>
        </p:nvSpPr>
        <p:spPr>
          <a:xfrm>
            <a:off x="4563566" y="2901950"/>
            <a:ext cx="76200" cy="76200"/>
          </a:xfrm>
          <a:prstGeom prst="rect">
            <a:avLst/>
          </a:prstGeom>
          <a:solidFill>
            <a:srgbClr val="F2B33D"/>
          </a:solidFill>
          <a:ln/>
        </p:spPr>
      </p:sp>
      <p:sp>
        <p:nvSpPr>
          <p:cNvPr id="18" name="Text 16"/>
          <p:cNvSpPr/>
          <p:nvPr/>
        </p:nvSpPr>
        <p:spPr>
          <a:xfrm>
            <a:off x="4754066" y="2901950"/>
            <a:ext cx="2960700" cy="9207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Lets us reduce support in the Slack channel, and eventually turn it off</a:t>
            </a:r>
            <a:endParaRPr lang="en-US" sz="1700" dirty="0"/>
          </a:p>
        </p:txBody>
      </p:sp>
      <p:sp>
        <p:nvSpPr>
          <p:cNvPr id="19" name="Text 17"/>
          <p:cNvSpPr/>
          <p:nvPr/>
        </p:nvSpPr>
        <p:spPr>
          <a:xfrm>
            <a:off x="8009533" y="1028700"/>
            <a:ext cx="1210747" cy="21590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C8102E"/>
                </a:solidFill>
                <a:latin typeface="Arial" pitchFamily="34" charset="0"/>
                <a:ea typeface="Arial" pitchFamily="34" charset="-122"/>
                <a:cs typeface="Arial" pitchFamily="34" charset="-120"/>
              </a:rPr>
              <a:t>LASTING FIX</a:t>
            </a:r>
            <a:endParaRPr lang="en-US" sz="1100" dirty="0"/>
          </a:p>
        </p:txBody>
      </p:sp>
      <p:sp>
        <p:nvSpPr>
          <p:cNvPr id="20" name="Text 18"/>
          <p:cNvSpPr/>
          <p:nvPr/>
        </p:nvSpPr>
        <p:spPr>
          <a:xfrm>
            <a:off x="8009533" y="1301750"/>
            <a:ext cx="3471366" cy="635000"/>
          </a:xfrm>
          <a:prstGeom prst="rect">
            <a:avLst/>
          </a:prstGeom>
          <a:solidFill>
            <a:srgbClr val="1F4E79"/>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Fix the foundation</a:t>
            </a:r>
            <a:endParaRPr lang="en-US" sz="1500" dirty="0"/>
          </a:p>
        </p:txBody>
      </p:sp>
      <p:sp>
        <p:nvSpPr>
          <p:cNvPr id="21" name="Shape 19"/>
          <p:cNvSpPr/>
          <p:nvPr/>
        </p:nvSpPr>
        <p:spPr>
          <a:xfrm>
            <a:off x="8009533" y="1936750"/>
            <a:ext cx="3471366" cy="2787650"/>
          </a:xfrm>
          <a:prstGeom prst="rect">
            <a:avLst/>
          </a:prstGeom>
          <a:solidFill>
            <a:srgbClr val="DCEBF2"/>
          </a:solidFill>
          <a:ln/>
        </p:spPr>
      </p:sp>
      <p:sp>
        <p:nvSpPr>
          <p:cNvPr id="22" name="Shape 20"/>
          <p:cNvSpPr/>
          <p:nvPr/>
        </p:nvSpPr>
        <p:spPr>
          <a:xfrm>
            <a:off x="8212733" y="2165350"/>
            <a:ext cx="76200" cy="76200"/>
          </a:xfrm>
          <a:prstGeom prst="rect">
            <a:avLst/>
          </a:prstGeom>
          <a:solidFill>
            <a:srgbClr val="F2B33D"/>
          </a:solidFill>
          <a:ln/>
        </p:spPr>
      </p:sp>
      <p:sp>
        <p:nvSpPr>
          <p:cNvPr id="23" name="Text 21"/>
          <p:cNvSpPr/>
          <p:nvPr/>
        </p:nvSpPr>
        <p:spPr>
          <a:xfrm>
            <a:off x="8403233" y="21653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Audit and re-architect the data</a:t>
            </a:r>
            <a:endParaRPr lang="en-US" sz="1700" dirty="0"/>
          </a:p>
        </p:txBody>
      </p:sp>
      <p:sp>
        <p:nvSpPr>
          <p:cNvPr id="24" name="Shape 22"/>
          <p:cNvSpPr/>
          <p:nvPr/>
        </p:nvSpPr>
        <p:spPr>
          <a:xfrm>
            <a:off x="8212733" y="2901950"/>
            <a:ext cx="76200" cy="76200"/>
          </a:xfrm>
          <a:prstGeom prst="rect">
            <a:avLst/>
          </a:prstGeom>
          <a:solidFill>
            <a:srgbClr val="F2B33D"/>
          </a:solidFill>
          <a:ln/>
        </p:spPr>
      </p:sp>
      <p:sp>
        <p:nvSpPr>
          <p:cNvPr id="25" name="Text 23"/>
          <p:cNvSpPr/>
          <p:nvPr/>
        </p:nvSpPr>
        <p:spPr>
          <a:xfrm>
            <a:off x="8403233" y="29019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Be ready to deliver on the TA data declaration</a:t>
            </a:r>
            <a:endParaRPr lang="en-US" sz="1700" dirty="0"/>
          </a:p>
        </p:txBody>
      </p:sp>
      <p:pic>
        <p:nvPicPr>
          <p:cNvPr id="26" name="Image 0" descr="connector">    </p:cNvPr>
          <p:cNvPicPr>
            <a:picLocks noChangeAspect="1"/>
          </p:cNvPicPr>
          <p:nvPr/>
        </p:nvPicPr>
        <p:blipFill>
          <a:blip r:embed="rId1"/>
          <a:srcRect l="0" r="0" t="0" b="0"/>
          <a:stretch/>
        </p:blipFill>
        <p:spPr>
          <a:xfrm>
            <a:off x="5695950" y="4851400"/>
            <a:ext cx="800100" cy="1244600"/>
          </a:xfrm>
          <a:prstGeom prst="rect">
            <a:avLst/>
          </a:prstGeom>
        </p:spPr>
      </p:pic>
      <p:sp>
        <p:nvSpPr>
          <p:cNvPr id="27" name="Text 24"/>
          <p:cNvSpPr/>
          <p:nvPr/>
        </p:nvSpPr>
        <p:spPr>
          <a:xfrm>
            <a:off x="711200" y="5461000"/>
            <a:ext cx="10769600" cy="584200"/>
          </a:xfrm>
          <a:prstGeom prst="rect">
            <a:avLst/>
          </a:prstGeom>
          <a:solidFill>
            <a:srgbClr val="F2B33D"/>
          </a:solidFill>
          <a:ln/>
        </p:spPr>
        <p:txBody>
          <a:bodyPr wrap="square" lIns="100076" tIns="152400" rIns="100076" bIns="127000" rtlCol="0" anchor="t">
            <a:normAutofit/>
          </a:bodyPr>
          <a:lstStyle/>
          <a:p>
            <a:pPr algn="ctr" indent="0" marL="0">
              <a:lnSpc>
                <a:spcPts val="2210"/>
              </a:lnSpc>
              <a:buNone/>
            </a:pPr>
            <a:r>
              <a:rPr lang="en-US" sz="1700" b="1" dirty="0">
                <a:solidFill>
                  <a:srgbClr val="0D2C54"/>
                </a:solidFill>
                <a:latin typeface="Arial" pitchFamily="34" charset="0"/>
                <a:ea typeface="Arial" pitchFamily="34" charset="-122"/>
                <a:cs typeface="Arial" pitchFamily="34" charset="-120"/>
              </a:rPr>
              <a:t>Quick wins now, lasting fix underway</a:t>
            </a:r>
            <a:endParaRPr lang="en-US" sz="1700" dirty="0"/>
          </a:p>
        </p:txBody>
      </p:sp>
      <p:sp>
        <p:nvSpPr>
          <p:cNvPr id="28" name="Text 25"/>
          <p:cNvSpPr/>
          <p:nvPr/>
        </p:nvSpPr>
        <p:spPr>
          <a:xfrm>
            <a:off x="711200" y="6400800"/>
            <a:ext cx="26162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F6B7A"/>
                </a:solidFill>
                <a:latin typeface="Arial" pitchFamily="34" charset="0"/>
                <a:ea typeface="Arial" pitchFamily="34" charset="-122"/>
                <a:cs typeface="Arial" pitchFamily="34" charset="-120"/>
              </a:rPr>
              <a:t>TA Data and Insights · Q4 2026 update</a:t>
            </a:r>
            <a:endParaRPr lang="en-US" sz="1000" dirty="0"/>
          </a:p>
        </p:txBody>
      </p:sp>
      <p:sp>
        <p:nvSpPr>
          <p:cNvPr id="29" name="Text 26"/>
          <p:cNvSpPr/>
          <p:nvPr/>
        </p:nvSpPr>
        <p:spPr>
          <a:xfrm>
            <a:off x="5508923" y="6400800"/>
            <a:ext cx="1408867" cy="203200"/>
          </a:xfrm>
          <a:prstGeom prst="rect">
            <a:avLst/>
          </a:prstGeom>
          <a:noFill/>
          <a:ln/>
        </p:spPr>
        <p:txBody>
          <a:bodyPr wrap="square" lIns="0" tIns="0" rIns="0" bIns="0" rtlCol="0" anchor="t">
            <a:normAutofit/>
          </a:bodyPr>
          <a:lstStyle/>
          <a:p>
            <a:pPr algn="l" indent="0" marL="0">
              <a:lnSpc>
                <a:spcPts val="1400"/>
              </a:lnSpc>
              <a:buNone/>
            </a:pPr>
            <a:r>
              <a:rPr lang="en-US" sz="1000" b="1" spc="150" kern="0" dirty="0">
                <a:solidFill>
                  <a:srgbClr val="5F6B7A"/>
                </a:solidFill>
                <a:latin typeface="Arial" pitchFamily="34" charset="0"/>
                <a:ea typeface="Arial" pitchFamily="34" charset="-122"/>
                <a:cs typeface="Arial" pitchFamily="34" charset="-120"/>
              </a:rPr>
              <a:t>CONFIDENTIAL</a:t>
            </a:r>
            <a:endParaRPr lang="en-US" sz="1000" dirty="0"/>
          </a:p>
        </p:txBody>
      </p:sp>
      <p:sp>
        <p:nvSpPr>
          <p:cNvPr id="30" name="Text 27"/>
          <p:cNvSpPr/>
          <p:nvPr/>
        </p:nvSpPr>
        <p:spPr>
          <a:xfrm>
            <a:off x="8864501" y="64008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5F6B7A"/>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711200" y="508000"/>
            <a:ext cx="11092688" cy="40005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D2C54"/>
                </a:solidFill>
                <a:latin typeface="Arial" pitchFamily="34" charset="0"/>
                <a:ea typeface="Arial" pitchFamily="34" charset="-122"/>
                <a:cs typeface="Arial" pitchFamily="34" charset="-120"/>
              </a:rPr>
              <a:t>Q4 look ahead</a:t>
            </a:r>
            <a:endParaRPr lang="en-US" sz="2600" dirty="0"/>
          </a:p>
        </p:txBody>
      </p:sp>
      <p:sp>
        <p:nvSpPr>
          <p:cNvPr id="3" name="Shape 1"/>
          <p:cNvSpPr/>
          <p:nvPr/>
        </p:nvSpPr>
        <p:spPr>
          <a:xfrm>
            <a:off x="723900" y="1035050"/>
            <a:ext cx="10744200" cy="546100"/>
          </a:xfrm>
          <a:prstGeom prst="rect">
            <a:avLst/>
          </a:prstGeom>
          <a:noFill/>
          <a:ln w="25400">
            <a:solidFill>
              <a:srgbClr val="C8102E"/>
            </a:solidFill>
            <a:prstDash val="dash"/>
          </a:ln>
        </p:spPr>
      </p:sp>
      <p:sp>
        <p:nvSpPr>
          <p:cNvPr id="4" name="Text 2"/>
          <p:cNvSpPr/>
          <p:nvPr/>
        </p:nvSpPr>
        <p:spPr>
          <a:xfrm>
            <a:off x="939800" y="1174750"/>
            <a:ext cx="886817" cy="292100"/>
          </a:xfrm>
          <a:prstGeom prst="rect">
            <a:avLst/>
          </a:prstGeom>
          <a:noFill/>
          <a:ln/>
        </p:spPr>
        <p:txBody>
          <a:bodyPr wrap="none" lIns="0" tIns="0" rIns="0" bIns="0" rtlCol="0" anchor="t">
            <a:normAutofit/>
          </a:bodyPr>
          <a:lstStyle/>
          <a:p>
            <a:pPr algn="l" indent="0" marL="0">
              <a:lnSpc>
                <a:spcPts val="2100"/>
              </a:lnSpc>
              <a:buNone/>
            </a:pPr>
            <a:r>
              <a:rPr lang="en-US" sz="1500" b="1" dirty="0">
                <a:solidFill>
                  <a:srgbClr val="C8102E"/>
                </a:solidFill>
                <a:latin typeface="Arial" pitchFamily="34" charset="0"/>
                <a:ea typeface="Arial" pitchFamily="34" charset="-122"/>
                <a:cs typeface="Arial" pitchFamily="34" charset="-120"/>
              </a:rPr>
              <a:t>Why now</a:t>
            </a:r>
            <a:endParaRPr lang="en-US" sz="1500" dirty="0"/>
          </a:p>
        </p:txBody>
      </p:sp>
      <p:sp>
        <p:nvSpPr>
          <p:cNvPr id="5" name="Text 3"/>
          <p:cNvSpPr/>
          <p:nvPr/>
        </p:nvSpPr>
        <p:spPr>
          <a:xfrm>
            <a:off x="1928217" y="1184275"/>
            <a:ext cx="9527183" cy="273050"/>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1F2933"/>
                </a:solidFill>
                <a:latin typeface="Arial" pitchFamily="34" charset="0"/>
                <a:ea typeface="Arial" pitchFamily="34" charset="-122"/>
                <a:cs typeface="Arial" pitchFamily="34" charset="-120"/>
              </a:rPr>
              <a:t>A TA data declaration is expected. When it lands, we need to know exactly what it takes to deliver on it.</a:t>
            </a:r>
            <a:endParaRPr lang="en-US" sz="1450" dirty="0"/>
          </a:p>
        </p:txBody>
      </p:sp>
      <p:sp>
        <p:nvSpPr>
          <p:cNvPr id="6" name="Text 4"/>
          <p:cNvSpPr/>
          <p:nvPr/>
        </p:nvSpPr>
        <p:spPr>
          <a:xfrm>
            <a:off x="711200" y="1733550"/>
            <a:ext cx="1971080" cy="635000"/>
          </a:xfrm>
          <a:prstGeom prst="rect">
            <a:avLst/>
          </a:prstGeom>
          <a:solidFill>
            <a:srgbClr val="0D2C54"/>
          </a:solidFill>
          <a:ln/>
        </p:spPr>
        <p:txBody>
          <a:bodyPr wrap="square" lIns="152400" tIns="0" rIns="152400" bIns="0" rtlCol="0" anchor="ctr">
            <a:normAutofit/>
          </a:bodyPr>
          <a:lstStyle/>
          <a:p>
            <a:pPr algn="ctr" indent="0" marL="0">
              <a:lnSpc>
                <a:spcPts val="1620"/>
              </a:lnSpc>
              <a:buNone/>
            </a:pPr>
            <a:r>
              <a:rPr lang="en-US" sz="1350" b="1" dirty="0">
                <a:solidFill>
                  <a:srgbClr val="FFFFFF"/>
                </a:solidFill>
                <a:latin typeface="Arial" pitchFamily="34" charset="0"/>
                <a:ea typeface="Arial" pitchFamily="34" charset="-122"/>
                <a:cs typeface="Arial" pitchFamily="34" charset="-120"/>
              </a:rPr>
              <a:t>1. Audit</a:t>
            </a:r>
            <a:endParaRPr lang="en-US" sz="1350" dirty="0"/>
          </a:p>
        </p:txBody>
      </p:sp>
      <p:sp>
        <p:nvSpPr>
          <p:cNvPr id="7" name="Shape 5"/>
          <p:cNvSpPr/>
          <p:nvPr/>
        </p:nvSpPr>
        <p:spPr>
          <a:xfrm>
            <a:off x="711200" y="2368550"/>
            <a:ext cx="1971080" cy="2984500"/>
          </a:xfrm>
          <a:prstGeom prst="rect">
            <a:avLst/>
          </a:prstGeom>
          <a:solidFill>
            <a:srgbClr val="DCEBF2"/>
          </a:solidFill>
          <a:ln/>
        </p:spPr>
      </p:sp>
      <p:sp>
        <p:nvSpPr>
          <p:cNvPr id="8" name="Shape 6"/>
          <p:cNvSpPr/>
          <p:nvPr/>
        </p:nvSpPr>
        <p:spPr>
          <a:xfrm>
            <a:off x="914400" y="2597150"/>
            <a:ext cx="76200" cy="76200"/>
          </a:xfrm>
          <a:prstGeom prst="rect">
            <a:avLst/>
          </a:prstGeom>
          <a:solidFill>
            <a:srgbClr val="F2B33D"/>
          </a:solidFill>
          <a:ln/>
        </p:spPr>
      </p:sp>
      <p:sp>
        <p:nvSpPr>
          <p:cNvPr id="9" name="Text 7"/>
          <p:cNvSpPr/>
          <p:nvPr/>
        </p:nvSpPr>
        <p:spPr>
          <a:xfrm>
            <a:off x="1104900" y="2597150"/>
            <a:ext cx="1424980"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Document every table, product and metric</a:t>
            </a:r>
            <a:endParaRPr lang="en-US" sz="1300" dirty="0"/>
          </a:p>
        </p:txBody>
      </p:sp>
      <p:pic>
        <p:nvPicPr>
          <p:cNvPr id="10" name="Image 0" descr="connector">    </p:cNvPr>
          <p:cNvPicPr>
            <a:picLocks noChangeAspect="1"/>
          </p:cNvPicPr>
          <p:nvPr/>
        </p:nvPicPr>
        <p:blipFill>
          <a:blip r:embed="rId1"/>
          <a:srcRect l="0" r="0" t="0" b="0"/>
          <a:stretch/>
        </p:blipFill>
        <p:spPr>
          <a:xfrm>
            <a:off x="2682280" y="3016250"/>
            <a:ext cx="558800" cy="355600"/>
          </a:xfrm>
          <a:prstGeom prst="rect">
            <a:avLst/>
          </a:prstGeom>
        </p:spPr>
      </p:pic>
      <p:sp>
        <p:nvSpPr>
          <p:cNvPr id="11" name="Shape 8"/>
          <p:cNvSpPr/>
          <p:nvPr/>
        </p:nvSpPr>
        <p:spPr>
          <a:xfrm>
            <a:off x="2987080" y="1733550"/>
            <a:ext cx="1971080" cy="635000"/>
          </a:xfrm>
          <a:prstGeom prst="rect">
            <a:avLst/>
          </a:prstGeom>
          <a:solidFill>
            <a:srgbClr val="0D2C54"/>
          </a:solidFill>
          <a:ln/>
        </p:spPr>
      </p:sp>
      <p:sp>
        <p:nvSpPr>
          <p:cNvPr id="12" name="Text 9"/>
          <p:cNvSpPr/>
          <p:nvPr/>
        </p:nvSpPr>
        <p:spPr>
          <a:xfrm>
            <a:off x="3114080" y="1847850"/>
            <a:ext cx="1717080" cy="431800"/>
          </a:xfrm>
          <a:prstGeom prst="rect">
            <a:avLst/>
          </a:prstGeom>
          <a:noFill/>
          <a:ln/>
        </p:spPr>
        <p:txBody>
          <a:bodyPr wrap="square" lIns="0" tIns="0" rIns="0" bIns="0" rtlCol="0" anchor="t">
            <a:normAutofit/>
          </a:bodyPr>
          <a:lstStyle/>
          <a:p>
            <a:pPr algn="ctr" indent="0" marL="0">
              <a:lnSpc>
                <a:spcPts val="1620"/>
              </a:lnSpc>
              <a:buNone/>
            </a:pPr>
            <a:r>
              <a:rPr lang="en-US" sz="1350" b="1" dirty="0">
                <a:solidFill>
                  <a:srgbClr val="FFFFFF"/>
                </a:solidFill>
                <a:latin typeface="Arial" pitchFamily="34" charset="0"/>
                <a:ea typeface="Arial" pitchFamily="34" charset="-122"/>
                <a:cs typeface="Arial" pitchFamily="34" charset="-120"/>
              </a:rPr>
              <a:t>2. Problem-solving session</a:t>
            </a:r>
            <a:endParaRPr lang="en-US" sz="1350" dirty="0"/>
          </a:p>
        </p:txBody>
      </p:sp>
      <p:sp>
        <p:nvSpPr>
          <p:cNvPr id="13" name="Shape 10"/>
          <p:cNvSpPr/>
          <p:nvPr/>
        </p:nvSpPr>
        <p:spPr>
          <a:xfrm>
            <a:off x="2987080" y="2368550"/>
            <a:ext cx="1971080" cy="2984500"/>
          </a:xfrm>
          <a:prstGeom prst="rect">
            <a:avLst/>
          </a:prstGeom>
          <a:solidFill>
            <a:srgbClr val="DCEBF2"/>
          </a:solidFill>
          <a:ln/>
        </p:spPr>
      </p:sp>
      <p:sp>
        <p:nvSpPr>
          <p:cNvPr id="14" name="Shape 11"/>
          <p:cNvSpPr/>
          <p:nvPr/>
        </p:nvSpPr>
        <p:spPr>
          <a:xfrm>
            <a:off x="3190280" y="2597150"/>
            <a:ext cx="76200" cy="76200"/>
          </a:xfrm>
          <a:prstGeom prst="rect">
            <a:avLst/>
          </a:prstGeom>
          <a:solidFill>
            <a:srgbClr val="F2B33D"/>
          </a:solidFill>
          <a:ln/>
        </p:spPr>
      </p:sp>
      <p:sp>
        <p:nvSpPr>
          <p:cNvPr id="15" name="Text 12"/>
          <p:cNvSpPr/>
          <p:nvPr/>
        </p:nvSpPr>
        <p:spPr>
          <a:xfrm>
            <a:off x="3380780" y="2597150"/>
            <a:ext cx="1424980" cy="9144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F2933"/>
                </a:solidFill>
                <a:latin typeface="Arial" pitchFamily="34" charset="0"/>
                <a:ea typeface="Arial" pitchFamily="34" charset="-122"/>
                <a:cs typeface="Arial" pitchFamily="34" charset="-120"/>
              </a:rPr>
              <a:t>Two days with TA analysts, TAAA, PDP and the product teams</a:t>
            </a:r>
            <a:endParaRPr lang="en-US" sz="1250" dirty="0"/>
          </a:p>
        </p:txBody>
      </p:sp>
      <p:sp>
        <p:nvSpPr>
          <p:cNvPr id="16" name="Shape 13"/>
          <p:cNvSpPr/>
          <p:nvPr/>
        </p:nvSpPr>
        <p:spPr>
          <a:xfrm>
            <a:off x="3190280" y="3625850"/>
            <a:ext cx="76200" cy="76200"/>
          </a:xfrm>
          <a:prstGeom prst="rect">
            <a:avLst/>
          </a:prstGeom>
          <a:solidFill>
            <a:srgbClr val="F2B33D"/>
          </a:solidFill>
          <a:ln/>
        </p:spPr>
      </p:sp>
      <p:sp>
        <p:nvSpPr>
          <p:cNvPr id="17" name="Text 14"/>
          <p:cNvSpPr/>
          <p:nvPr/>
        </p:nvSpPr>
        <p:spPr>
          <a:xfrm>
            <a:off x="3380780" y="3625850"/>
            <a:ext cx="1424980" cy="1358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F2933"/>
                </a:solidFill>
                <a:latin typeface="Arial" pitchFamily="34" charset="0"/>
                <a:ea typeface="Arial" pitchFamily="34" charset="-122"/>
                <a:cs typeface="Arial" pitchFamily="34" charset="-120"/>
              </a:rPr>
              <a:t>Trace the data from the source platforms, into HRDW, and through the business logic</a:t>
            </a:r>
            <a:endParaRPr lang="en-US" sz="1250" dirty="0"/>
          </a:p>
        </p:txBody>
      </p:sp>
      <p:pic>
        <p:nvPicPr>
          <p:cNvPr id="18" name="Image 1" descr="connector">    </p:cNvPr>
          <p:cNvPicPr>
            <a:picLocks noChangeAspect="1"/>
          </p:cNvPicPr>
          <p:nvPr/>
        </p:nvPicPr>
        <p:blipFill>
          <a:blip r:embed="rId2"/>
          <a:srcRect l="0" r="0" t="0" b="0"/>
          <a:stretch/>
        </p:blipFill>
        <p:spPr>
          <a:xfrm>
            <a:off x="4958159" y="3016250"/>
            <a:ext cx="558800" cy="355600"/>
          </a:xfrm>
          <a:prstGeom prst="rect">
            <a:avLst/>
          </a:prstGeom>
        </p:spPr>
      </p:pic>
      <p:sp>
        <p:nvSpPr>
          <p:cNvPr id="19" name="Text 15"/>
          <p:cNvSpPr/>
          <p:nvPr/>
        </p:nvSpPr>
        <p:spPr>
          <a:xfrm>
            <a:off x="5262959" y="1733550"/>
            <a:ext cx="1971080" cy="635000"/>
          </a:xfrm>
          <a:prstGeom prst="rect">
            <a:avLst/>
          </a:prstGeom>
          <a:solidFill>
            <a:srgbClr val="0D2C54"/>
          </a:solidFill>
          <a:ln/>
        </p:spPr>
        <p:txBody>
          <a:bodyPr wrap="square" lIns="152400" tIns="0" rIns="152400" bIns="0" rtlCol="0" anchor="ctr">
            <a:normAutofit/>
          </a:bodyPr>
          <a:lstStyle/>
          <a:p>
            <a:pPr algn="ctr" indent="0" marL="0">
              <a:lnSpc>
                <a:spcPts val="1620"/>
              </a:lnSpc>
              <a:buNone/>
            </a:pPr>
            <a:r>
              <a:rPr lang="en-US" sz="1350" b="1" dirty="0">
                <a:solidFill>
                  <a:srgbClr val="FFFFFF"/>
                </a:solidFill>
                <a:latin typeface="Arial" pitchFamily="34" charset="0"/>
                <a:ea typeface="Arial" pitchFamily="34" charset="-122"/>
                <a:cs typeface="Arial" pitchFamily="34" charset="-120"/>
              </a:rPr>
              <a:t>3. Prioritised fix list</a:t>
            </a:r>
            <a:endParaRPr lang="en-US" sz="1350" dirty="0"/>
          </a:p>
        </p:txBody>
      </p:sp>
      <p:sp>
        <p:nvSpPr>
          <p:cNvPr id="20" name="Shape 16"/>
          <p:cNvSpPr/>
          <p:nvPr/>
        </p:nvSpPr>
        <p:spPr>
          <a:xfrm>
            <a:off x="5262959" y="2368550"/>
            <a:ext cx="1971080" cy="2984500"/>
          </a:xfrm>
          <a:prstGeom prst="rect">
            <a:avLst/>
          </a:prstGeom>
          <a:solidFill>
            <a:srgbClr val="DCEBF2"/>
          </a:solidFill>
          <a:ln/>
        </p:spPr>
      </p:sp>
      <p:sp>
        <p:nvSpPr>
          <p:cNvPr id="21" name="Shape 17"/>
          <p:cNvSpPr/>
          <p:nvPr/>
        </p:nvSpPr>
        <p:spPr>
          <a:xfrm>
            <a:off x="5466159" y="2597150"/>
            <a:ext cx="76200" cy="76200"/>
          </a:xfrm>
          <a:prstGeom prst="rect">
            <a:avLst/>
          </a:prstGeom>
          <a:solidFill>
            <a:srgbClr val="F2B33D"/>
          </a:solidFill>
          <a:ln/>
        </p:spPr>
      </p:sp>
      <p:sp>
        <p:nvSpPr>
          <p:cNvPr id="22" name="Text 18"/>
          <p:cNvSpPr/>
          <p:nvPr/>
        </p:nvSpPr>
        <p:spPr>
          <a:xfrm>
            <a:off x="5656659" y="2597150"/>
            <a:ext cx="1424980"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A ranked list of what to fix</a:t>
            </a:r>
            <a:endParaRPr lang="en-US" sz="1300" dirty="0"/>
          </a:p>
        </p:txBody>
      </p:sp>
      <p:sp>
        <p:nvSpPr>
          <p:cNvPr id="23" name="Shape 19"/>
          <p:cNvSpPr/>
          <p:nvPr/>
        </p:nvSpPr>
        <p:spPr>
          <a:xfrm>
            <a:off x="5466159" y="3194050"/>
            <a:ext cx="76200" cy="76200"/>
          </a:xfrm>
          <a:prstGeom prst="rect">
            <a:avLst/>
          </a:prstGeom>
          <a:solidFill>
            <a:srgbClr val="F2B33D"/>
          </a:solidFill>
          <a:ln/>
        </p:spPr>
      </p:sp>
      <p:sp>
        <p:nvSpPr>
          <p:cNvPr id="24" name="Text 20"/>
          <p:cNvSpPr/>
          <p:nvPr/>
        </p:nvSpPr>
        <p:spPr>
          <a:xfrm>
            <a:off x="5656659" y="3194050"/>
            <a:ext cx="1424980"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Feeds the architecture</a:t>
            </a:r>
            <a:endParaRPr lang="en-US" sz="1300" dirty="0"/>
          </a:p>
        </p:txBody>
      </p:sp>
      <p:pic>
        <p:nvPicPr>
          <p:cNvPr id="25" name="Image 2" descr="connector">    </p:cNvPr>
          <p:cNvPicPr>
            <a:picLocks noChangeAspect="1"/>
          </p:cNvPicPr>
          <p:nvPr/>
        </p:nvPicPr>
        <p:blipFill>
          <a:blip r:embed="rId3"/>
          <a:srcRect l="0" r="0" t="0" b="0"/>
          <a:stretch/>
        </p:blipFill>
        <p:spPr>
          <a:xfrm>
            <a:off x="7234039" y="3016250"/>
            <a:ext cx="558800" cy="355600"/>
          </a:xfrm>
          <a:prstGeom prst="rect">
            <a:avLst/>
          </a:prstGeom>
        </p:spPr>
      </p:pic>
      <p:sp>
        <p:nvSpPr>
          <p:cNvPr id="26" name="Text 21"/>
          <p:cNvSpPr/>
          <p:nvPr/>
        </p:nvSpPr>
        <p:spPr>
          <a:xfrm>
            <a:off x="7538839" y="1733550"/>
            <a:ext cx="1971080" cy="635000"/>
          </a:xfrm>
          <a:prstGeom prst="rect">
            <a:avLst/>
          </a:prstGeom>
          <a:solidFill>
            <a:srgbClr val="1F4E79"/>
          </a:solidFill>
          <a:ln/>
        </p:spPr>
        <p:txBody>
          <a:bodyPr wrap="square" lIns="152400" tIns="0" rIns="152400" bIns="0" rtlCol="0" anchor="ctr">
            <a:normAutofit/>
          </a:bodyPr>
          <a:lstStyle/>
          <a:p>
            <a:pPr algn="ctr" indent="0" marL="0">
              <a:lnSpc>
                <a:spcPts val="1620"/>
              </a:lnSpc>
              <a:buNone/>
            </a:pPr>
            <a:r>
              <a:rPr lang="en-US" sz="1350" b="1" dirty="0">
                <a:solidFill>
                  <a:srgbClr val="FFFFFF"/>
                </a:solidFill>
                <a:latin typeface="Arial" pitchFamily="34" charset="0"/>
                <a:ea typeface="Arial" pitchFamily="34" charset="-122"/>
                <a:cs typeface="Arial" pitchFamily="34" charset="-120"/>
              </a:rPr>
              <a:t>4. Architecture</a:t>
            </a:r>
            <a:endParaRPr lang="en-US" sz="1350" dirty="0"/>
          </a:p>
        </p:txBody>
      </p:sp>
      <p:sp>
        <p:nvSpPr>
          <p:cNvPr id="27" name="Shape 22"/>
          <p:cNvSpPr/>
          <p:nvPr/>
        </p:nvSpPr>
        <p:spPr>
          <a:xfrm>
            <a:off x="7538839" y="2368550"/>
            <a:ext cx="1971080" cy="2984500"/>
          </a:xfrm>
          <a:prstGeom prst="rect">
            <a:avLst/>
          </a:prstGeom>
          <a:solidFill>
            <a:srgbClr val="DCEBF2"/>
          </a:solidFill>
          <a:ln/>
        </p:spPr>
      </p:sp>
      <p:sp>
        <p:nvSpPr>
          <p:cNvPr id="28" name="Shape 23"/>
          <p:cNvSpPr/>
          <p:nvPr/>
        </p:nvSpPr>
        <p:spPr>
          <a:xfrm>
            <a:off x="7742039" y="2597150"/>
            <a:ext cx="76200" cy="76200"/>
          </a:xfrm>
          <a:prstGeom prst="rect">
            <a:avLst/>
          </a:prstGeom>
          <a:solidFill>
            <a:srgbClr val="F2B33D"/>
          </a:solidFill>
          <a:ln/>
        </p:spPr>
      </p:sp>
      <p:sp>
        <p:nvSpPr>
          <p:cNvPr id="29" name="Text 24"/>
          <p:cNvSpPr/>
          <p:nvPr/>
        </p:nvSpPr>
        <p:spPr>
          <a:xfrm>
            <a:off x="7932539" y="2597150"/>
            <a:ext cx="1424980"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The team has proposed a new architecture</a:t>
            </a:r>
            <a:endParaRPr lang="en-US" sz="1300" dirty="0"/>
          </a:p>
        </p:txBody>
      </p:sp>
      <p:sp>
        <p:nvSpPr>
          <p:cNvPr id="30" name="Shape 25"/>
          <p:cNvSpPr/>
          <p:nvPr/>
        </p:nvSpPr>
        <p:spPr>
          <a:xfrm>
            <a:off x="7742039" y="3422650"/>
            <a:ext cx="76200" cy="76200"/>
          </a:xfrm>
          <a:prstGeom prst="rect">
            <a:avLst/>
          </a:prstGeom>
          <a:solidFill>
            <a:srgbClr val="F2B33D"/>
          </a:solidFill>
          <a:ln/>
        </p:spPr>
      </p:sp>
      <p:sp>
        <p:nvSpPr>
          <p:cNvPr id="31" name="Text 26"/>
          <p:cNvSpPr/>
          <p:nvPr/>
        </p:nvSpPr>
        <p:spPr>
          <a:xfrm>
            <a:off x="7932539" y="3422650"/>
            <a:ext cx="1424980"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Start on the parts the audit won’t change</a:t>
            </a:r>
            <a:endParaRPr lang="en-US" sz="1300" dirty="0"/>
          </a:p>
        </p:txBody>
      </p:sp>
      <p:sp>
        <p:nvSpPr>
          <p:cNvPr id="32" name="Shape 27"/>
          <p:cNvSpPr/>
          <p:nvPr/>
        </p:nvSpPr>
        <p:spPr>
          <a:xfrm>
            <a:off x="7742039" y="4248150"/>
            <a:ext cx="76200" cy="76200"/>
          </a:xfrm>
          <a:prstGeom prst="rect">
            <a:avLst/>
          </a:prstGeom>
          <a:solidFill>
            <a:srgbClr val="F2B33D"/>
          </a:solidFill>
          <a:ln/>
        </p:spPr>
      </p:sp>
      <p:sp>
        <p:nvSpPr>
          <p:cNvPr id="33" name="Text 28"/>
          <p:cNvSpPr/>
          <p:nvPr/>
        </p:nvSpPr>
        <p:spPr>
          <a:xfrm>
            <a:off x="7932539" y="4248150"/>
            <a:ext cx="1424980"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Let the audit shape the rest</a:t>
            </a:r>
            <a:endParaRPr lang="en-US" sz="1300" dirty="0"/>
          </a:p>
        </p:txBody>
      </p:sp>
      <p:sp>
        <p:nvSpPr>
          <p:cNvPr id="34" name="Shape 29"/>
          <p:cNvSpPr/>
          <p:nvPr/>
        </p:nvSpPr>
        <p:spPr>
          <a:xfrm>
            <a:off x="9509919" y="1733550"/>
            <a:ext cx="1971080" cy="635000"/>
          </a:xfrm>
          <a:prstGeom prst="rect">
            <a:avLst/>
          </a:prstGeom>
          <a:solidFill>
            <a:srgbClr val="4F81B0"/>
          </a:solidFill>
          <a:ln/>
        </p:spPr>
      </p:sp>
      <p:sp>
        <p:nvSpPr>
          <p:cNvPr id="35" name="Text 30"/>
          <p:cNvSpPr/>
          <p:nvPr/>
        </p:nvSpPr>
        <p:spPr>
          <a:xfrm>
            <a:off x="9636919" y="1847850"/>
            <a:ext cx="1717080" cy="431800"/>
          </a:xfrm>
          <a:prstGeom prst="rect">
            <a:avLst/>
          </a:prstGeom>
          <a:noFill/>
          <a:ln/>
        </p:spPr>
        <p:txBody>
          <a:bodyPr wrap="square" lIns="0" tIns="0" rIns="0" bIns="0" rtlCol="0" anchor="t">
            <a:normAutofit/>
          </a:bodyPr>
          <a:lstStyle/>
          <a:p>
            <a:pPr algn="ctr" indent="0" marL="0">
              <a:lnSpc>
                <a:spcPts val="1620"/>
              </a:lnSpc>
              <a:buNone/>
            </a:pPr>
            <a:r>
              <a:rPr lang="en-US" sz="1350" b="1" dirty="0">
                <a:solidFill>
                  <a:srgbClr val="FFFFFF"/>
                </a:solidFill>
                <a:latin typeface="Arial" pitchFamily="34" charset="0"/>
                <a:ea typeface="Arial" pitchFamily="34" charset="-122"/>
                <a:cs typeface="Arial" pitchFamily="34" charset="-120"/>
              </a:rPr>
              <a:t>Also in Q4: Metric dictionary</a:t>
            </a:r>
            <a:endParaRPr lang="en-US" sz="1350" dirty="0"/>
          </a:p>
        </p:txBody>
      </p:sp>
      <p:sp>
        <p:nvSpPr>
          <p:cNvPr id="36" name="Shape 31"/>
          <p:cNvSpPr/>
          <p:nvPr/>
        </p:nvSpPr>
        <p:spPr>
          <a:xfrm>
            <a:off x="9509919" y="2368550"/>
            <a:ext cx="1971080" cy="2984500"/>
          </a:xfrm>
          <a:prstGeom prst="rect">
            <a:avLst/>
          </a:prstGeom>
          <a:solidFill>
            <a:srgbClr val="DCEBF2"/>
          </a:solidFill>
          <a:ln/>
        </p:spPr>
      </p:sp>
      <p:sp>
        <p:nvSpPr>
          <p:cNvPr id="37" name="Shape 32"/>
          <p:cNvSpPr/>
          <p:nvPr/>
        </p:nvSpPr>
        <p:spPr>
          <a:xfrm>
            <a:off x="9713119" y="2597150"/>
            <a:ext cx="76200" cy="76200"/>
          </a:xfrm>
          <a:prstGeom prst="rect">
            <a:avLst/>
          </a:prstGeom>
          <a:solidFill>
            <a:srgbClr val="F2B33D"/>
          </a:solidFill>
          <a:ln/>
        </p:spPr>
      </p:sp>
      <p:sp>
        <p:nvSpPr>
          <p:cNvPr id="38" name="Text 33"/>
          <p:cNvSpPr/>
          <p:nvPr/>
        </p:nvSpPr>
        <p:spPr>
          <a:xfrm>
            <a:off x="9903619" y="2597150"/>
            <a:ext cx="1424980"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Start agreeing metric definitions</a:t>
            </a:r>
            <a:endParaRPr lang="en-US" sz="1300" dirty="0"/>
          </a:p>
        </p:txBody>
      </p:sp>
      <p:sp>
        <p:nvSpPr>
          <p:cNvPr id="39" name="Text 34"/>
          <p:cNvSpPr/>
          <p:nvPr/>
        </p:nvSpPr>
        <p:spPr>
          <a:xfrm>
            <a:off x="711200" y="5492750"/>
            <a:ext cx="10769600" cy="552450"/>
          </a:xfrm>
          <a:prstGeom prst="rect">
            <a:avLst/>
          </a:prstGeom>
          <a:solidFill>
            <a:srgbClr val="F2B33D"/>
          </a:solidFill>
          <a:ln/>
        </p:spPr>
        <p:txBody>
          <a:bodyPr wrap="square" lIns="100076" tIns="152400" rIns="100076" bIns="127000" rtlCol="0" anchor="t">
            <a:normAutofit/>
          </a:bodyPr>
          <a:lstStyle/>
          <a:p>
            <a:pPr algn="ctr" indent="0" marL="0">
              <a:lnSpc>
                <a:spcPts val="1950"/>
              </a:lnSpc>
              <a:buNone/>
            </a:pPr>
            <a:r>
              <a:rPr lang="en-US" sz="1500" b="1" dirty="0">
                <a:solidFill>
                  <a:srgbClr val="0D2C54"/>
                </a:solidFill>
                <a:latin typeface="Arial" pitchFamily="34" charset="0"/>
                <a:ea typeface="Arial" pitchFamily="34" charset="-122"/>
                <a:cs typeface="Arial" pitchFamily="34" charset="-120"/>
              </a:rPr>
              <a:t>By December: audit complete, session held, ranked fix list in hand</a:t>
            </a:r>
            <a:endParaRPr lang="en-US" sz="1500" dirty="0"/>
          </a:p>
        </p:txBody>
      </p:sp>
      <p:sp>
        <p:nvSpPr>
          <p:cNvPr id="40" name="Text 35"/>
          <p:cNvSpPr/>
          <p:nvPr/>
        </p:nvSpPr>
        <p:spPr>
          <a:xfrm>
            <a:off x="711200" y="6400800"/>
            <a:ext cx="26162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F6B7A"/>
                </a:solidFill>
                <a:latin typeface="Arial" pitchFamily="34" charset="0"/>
                <a:ea typeface="Arial" pitchFamily="34" charset="-122"/>
                <a:cs typeface="Arial" pitchFamily="34" charset="-120"/>
              </a:rPr>
              <a:t>TA Data and Insights · Q4 2026 update</a:t>
            </a:r>
            <a:endParaRPr lang="en-US" sz="1000" dirty="0"/>
          </a:p>
        </p:txBody>
      </p:sp>
      <p:sp>
        <p:nvSpPr>
          <p:cNvPr id="41" name="Text 36"/>
          <p:cNvSpPr/>
          <p:nvPr/>
        </p:nvSpPr>
        <p:spPr>
          <a:xfrm>
            <a:off x="5508923" y="6400800"/>
            <a:ext cx="1408867" cy="203200"/>
          </a:xfrm>
          <a:prstGeom prst="rect">
            <a:avLst/>
          </a:prstGeom>
          <a:noFill/>
          <a:ln/>
        </p:spPr>
        <p:txBody>
          <a:bodyPr wrap="square" lIns="0" tIns="0" rIns="0" bIns="0" rtlCol="0" anchor="t">
            <a:normAutofit/>
          </a:bodyPr>
          <a:lstStyle/>
          <a:p>
            <a:pPr algn="l" indent="0" marL="0">
              <a:lnSpc>
                <a:spcPts val="1400"/>
              </a:lnSpc>
              <a:buNone/>
            </a:pPr>
            <a:r>
              <a:rPr lang="en-US" sz="1000" b="1" spc="150" kern="0" dirty="0">
                <a:solidFill>
                  <a:srgbClr val="5F6B7A"/>
                </a:solidFill>
                <a:latin typeface="Arial" pitchFamily="34" charset="0"/>
                <a:ea typeface="Arial" pitchFamily="34" charset="-122"/>
                <a:cs typeface="Arial" pitchFamily="34" charset="-120"/>
              </a:rPr>
              <a:t>CONFIDENTIAL</a:t>
            </a:r>
            <a:endParaRPr lang="en-US" sz="1000" dirty="0"/>
          </a:p>
        </p:txBody>
      </p:sp>
      <p:sp>
        <p:nvSpPr>
          <p:cNvPr id="42" name="Text 37"/>
          <p:cNvSpPr/>
          <p:nvPr/>
        </p:nvSpPr>
        <p:spPr>
          <a:xfrm>
            <a:off x="8864501" y="64008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5F6B7A"/>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711200" y="508000"/>
            <a:ext cx="11092688" cy="40005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D2C54"/>
                </a:solidFill>
                <a:latin typeface="Arial" pitchFamily="34" charset="0"/>
                <a:ea typeface="Arial" pitchFamily="34" charset="-122"/>
                <a:cs typeface="Arial" pitchFamily="34" charset="-120"/>
              </a:rPr>
              <a:t>2027 outlook: what moves once the foundation is in place</a:t>
            </a:r>
            <a:endParaRPr lang="en-US" sz="2600" dirty="0"/>
          </a:p>
        </p:txBody>
      </p:sp>
      <p:sp>
        <p:nvSpPr>
          <p:cNvPr id="3" name="Shape 1"/>
          <p:cNvSpPr/>
          <p:nvPr/>
        </p:nvSpPr>
        <p:spPr>
          <a:xfrm>
            <a:off x="723900" y="1035050"/>
            <a:ext cx="10744200" cy="4629150"/>
          </a:xfrm>
          <a:prstGeom prst="rect">
            <a:avLst/>
          </a:prstGeom>
          <a:noFill/>
          <a:ln w="25400">
            <a:solidFill>
              <a:srgbClr val="C8102E"/>
            </a:solidFill>
            <a:prstDash val="dash"/>
          </a:ln>
        </p:spPr>
      </p:sp>
      <p:sp>
        <p:nvSpPr>
          <p:cNvPr id="4" name="Text 2"/>
          <p:cNvSpPr/>
          <p:nvPr/>
        </p:nvSpPr>
        <p:spPr>
          <a:xfrm>
            <a:off x="914400" y="1225550"/>
            <a:ext cx="3335834"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Architecture</a:t>
            </a:r>
            <a:endParaRPr lang="en-US" sz="1500" dirty="0"/>
          </a:p>
        </p:txBody>
      </p:sp>
      <p:sp>
        <p:nvSpPr>
          <p:cNvPr id="5" name="Shape 3"/>
          <p:cNvSpPr/>
          <p:nvPr/>
        </p:nvSpPr>
        <p:spPr>
          <a:xfrm>
            <a:off x="914400" y="1860550"/>
            <a:ext cx="3335834" cy="3613150"/>
          </a:xfrm>
          <a:prstGeom prst="rect">
            <a:avLst/>
          </a:prstGeom>
          <a:solidFill>
            <a:srgbClr val="DCEBF2"/>
          </a:solidFill>
          <a:ln/>
        </p:spPr>
      </p:sp>
      <p:sp>
        <p:nvSpPr>
          <p:cNvPr id="6" name="Shape 4"/>
          <p:cNvSpPr/>
          <p:nvPr/>
        </p:nvSpPr>
        <p:spPr>
          <a:xfrm>
            <a:off x="1117600" y="2089150"/>
            <a:ext cx="76200" cy="76200"/>
          </a:xfrm>
          <a:prstGeom prst="rect">
            <a:avLst/>
          </a:prstGeom>
          <a:solidFill>
            <a:srgbClr val="F2B33D"/>
          </a:solidFill>
          <a:ln/>
        </p:spPr>
      </p:sp>
      <p:sp>
        <p:nvSpPr>
          <p:cNvPr id="7" name="Text 5"/>
          <p:cNvSpPr/>
          <p:nvPr/>
        </p:nvSpPr>
        <p:spPr>
          <a:xfrm>
            <a:off x="1308100" y="2089150"/>
            <a:ext cx="2821102" cy="9207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Move the remaining products onto the shared foundation</a:t>
            </a:r>
            <a:endParaRPr lang="en-US" sz="1700" dirty="0"/>
          </a:p>
        </p:txBody>
      </p:sp>
      <p:sp>
        <p:nvSpPr>
          <p:cNvPr id="8" name="Shape 6"/>
          <p:cNvSpPr/>
          <p:nvPr/>
        </p:nvSpPr>
        <p:spPr>
          <a:xfrm>
            <a:off x="1117600" y="3124200"/>
            <a:ext cx="76200" cy="76200"/>
          </a:xfrm>
          <a:prstGeom prst="rect">
            <a:avLst/>
          </a:prstGeom>
          <a:solidFill>
            <a:srgbClr val="F2B33D"/>
          </a:solidFill>
          <a:ln/>
        </p:spPr>
      </p:sp>
      <p:sp>
        <p:nvSpPr>
          <p:cNvPr id="9" name="Text 7"/>
          <p:cNvSpPr/>
          <p:nvPr/>
        </p:nvSpPr>
        <p:spPr>
          <a:xfrm>
            <a:off x="1308100" y="3124200"/>
            <a:ext cx="2821102"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Retire what we no longer need</a:t>
            </a:r>
            <a:endParaRPr lang="en-US" sz="1700" dirty="0"/>
          </a:p>
        </p:txBody>
      </p:sp>
      <p:sp>
        <p:nvSpPr>
          <p:cNvPr id="10" name="Text 8"/>
          <p:cNvSpPr/>
          <p:nvPr/>
        </p:nvSpPr>
        <p:spPr>
          <a:xfrm>
            <a:off x="4428034" y="1225550"/>
            <a:ext cx="3335834"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Team</a:t>
            </a:r>
            <a:endParaRPr lang="en-US" sz="1500" dirty="0"/>
          </a:p>
        </p:txBody>
      </p:sp>
      <p:sp>
        <p:nvSpPr>
          <p:cNvPr id="11" name="Shape 9"/>
          <p:cNvSpPr/>
          <p:nvPr/>
        </p:nvSpPr>
        <p:spPr>
          <a:xfrm>
            <a:off x="4428034" y="1860550"/>
            <a:ext cx="3335834" cy="3613150"/>
          </a:xfrm>
          <a:prstGeom prst="rect">
            <a:avLst/>
          </a:prstGeom>
          <a:solidFill>
            <a:srgbClr val="DCEBF2"/>
          </a:solidFill>
          <a:ln/>
        </p:spPr>
      </p:sp>
      <p:sp>
        <p:nvSpPr>
          <p:cNvPr id="12" name="Shape 10"/>
          <p:cNvSpPr/>
          <p:nvPr/>
        </p:nvSpPr>
        <p:spPr>
          <a:xfrm>
            <a:off x="4631234" y="2089150"/>
            <a:ext cx="76200" cy="76200"/>
          </a:xfrm>
          <a:prstGeom prst="rect">
            <a:avLst/>
          </a:prstGeom>
          <a:solidFill>
            <a:srgbClr val="F2B33D"/>
          </a:solidFill>
          <a:ln/>
        </p:spPr>
      </p:sp>
      <p:sp>
        <p:nvSpPr>
          <p:cNvPr id="13" name="Text 11"/>
          <p:cNvSpPr/>
          <p:nvPr/>
        </p:nvSpPr>
        <p:spPr>
          <a:xfrm>
            <a:off x="4821734" y="2089150"/>
            <a:ext cx="2821102"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Less time keeping reports running</a:t>
            </a:r>
            <a:endParaRPr lang="en-US" sz="1700" dirty="0"/>
          </a:p>
        </p:txBody>
      </p:sp>
      <p:sp>
        <p:nvSpPr>
          <p:cNvPr id="14" name="Shape 12"/>
          <p:cNvSpPr/>
          <p:nvPr/>
        </p:nvSpPr>
        <p:spPr>
          <a:xfrm>
            <a:off x="4631234" y="2825750"/>
            <a:ext cx="76200" cy="76200"/>
          </a:xfrm>
          <a:prstGeom prst="rect">
            <a:avLst/>
          </a:prstGeom>
          <a:solidFill>
            <a:srgbClr val="F2B33D"/>
          </a:solidFill>
          <a:ln/>
        </p:spPr>
      </p:sp>
      <p:sp>
        <p:nvSpPr>
          <p:cNvPr id="15" name="Text 13"/>
          <p:cNvSpPr/>
          <p:nvPr/>
        </p:nvSpPr>
        <p:spPr>
          <a:xfrm>
            <a:off x="4821734" y="2825750"/>
            <a:ext cx="2821102"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More time on the questions the business is asking</a:t>
            </a:r>
            <a:endParaRPr lang="en-US" sz="1700" dirty="0"/>
          </a:p>
        </p:txBody>
      </p:sp>
      <p:sp>
        <p:nvSpPr>
          <p:cNvPr id="16" name="Text 14"/>
          <p:cNvSpPr/>
          <p:nvPr/>
        </p:nvSpPr>
        <p:spPr>
          <a:xfrm>
            <a:off x="7941667" y="1225550"/>
            <a:ext cx="3335834"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AI</a:t>
            </a:r>
            <a:endParaRPr lang="en-US" sz="1500" dirty="0"/>
          </a:p>
        </p:txBody>
      </p:sp>
      <p:sp>
        <p:nvSpPr>
          <p:cNvPr id="17" name="Shape 15"/>
          <p:cNvSpPr/>
          <p:nvPr/>
        </p:nvSpPr>
        <p:spPr>
          <a:xfrm>
            <a:off x="7941667" y="1860550"/>
            <a:ext cx="3335834" cy="3613150"/>
          </a:xfrm>
          <a:prstGeom prst="rect">
            <a:avLst/>
          </a:prstGeom>
          <a:solidFill>
            <a:srgbClr val="DCEBF2"/>
          </a:solidFill>
          <a:ln/>
        </p:spPr>
      </p:sp>
      <p:sp>
        <p:nvSpPr>
          <p:cNvPr id="18" name="Shape 16"/>
          <p:cNvSpPr/>
          <p:nvPr/>
        </p:nvSpPr>
        <p:spPr>
          <a:xfrm>
            <a:off x="8144867" y="2089150"/>
            <a:ext cx="76200" cy="76200"/>
          </a:xfrm>
          <a:prstGeom prst="rect">
            <a:avLst/>
          </a:prstGeom>
          <a:solidFill>
            <a:srgbClr val="F2B33D"/>
          </a:solidFill>
          <a:ln/>
        </p:spPr>
      </p:sp>
      <p:sp>
        <p:nvSpPr>
          <p:cNvPr id="19" name="Text 17"/>
          <p:cNvSpPr/>
          <p:nvPr/>
        </p:nvSpPr>
        <p:spPr>
          <a:xfrm>
            <a:off x="8335367" y="2089150"/>
            <a:ext cx="2821102"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AI tools that answer from the agreed metrics</a:t>
            </a:r>
            <a:endParaRPr lang="en-US" sz="1700" dirty="0"/>
          </a:p>
        </p:txBody>
      </p:sp>
      <p:sp>
        <p:nvSpPr>
          <p:cNvPr id="20" name="Shape 18"/>
          <p:cNvSpPr/>
          <p:nvPr/>
        </p:nvSpPr>
        <p:spPr>
          <a:xfrm>
            <a:off x="8144867" y="2825750"/>
            <a:ext cx="76200" cy="76200"/>
          </a:xfrm>
          <a:prstGeom prst="rect">
            <a:avLst/>
          </a:prstGeom>
          <a:solidFill>
            <a:srgbClr val="F2B33D"/>
          </a:solidFill>
          <a:ln/>
        </p:spPr>
      </p:sp>
      <p:sp>
        <p:nvSpPr>
          <p:cNvPr id="21" name="Text 19"/>
          <p:cNvSpPr/>
          <p:nvPr/>
        </p:nvSpPr>
        <p:spPr>
          <a:xfrm>
            <a:off x="8335367" y="2825750"/>
            <a:ext cx="2821102" cy="3238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Built on trusted definitions</a:t>
            </a:r>
            <a:endParaRPr lang="en-US" sz="1700" dirty="0"/>
          </a:p>
        </p:txBody>
      </p:sp>
      <p:sp>
        <p:nvSpPr>
          <p:cNvPr id="22" name="Text 20"/>
          <p:cNvSpPr/>
          <p:nvPr/>
        </p:nvSpPr>
        <p:spPr>
          <a:xfrm>
            <a:off x="711200" y="5816600"/>
            <a:ext cx="11092688" cy="254000"/>
          </a:xfrm>
          <a:prstGeom prst="rect">
            <a:avLst/>
          </a:prstGeom>
          <a:noFill/>
          <a:ln/>
        </p:spPr>
        <p:txBody>
          <a:bodyPr wrap="square" lIns="0" tIns="0" rIns="0" bIns="0" rtlCol="0" anchor="t">
            <a:normAutofit/>
          </a:bodyPr>
          <a:lstStyle/>
          <a:p>
            <a:pPr algn="l" indent="0" marL="0">
              <a:lnSpc>
                <a:spcPts val="1820"/>
              </a:lnSpc>
              <a:buNone/>
            </a:pPr>
            <a:r>
              <a:rPr lang="en-US" sz="1300" b="1" i="1" dirty="0">
                <a:solidFill>
                  <a:srgbClr val="C8102E"/>
                </a:solidFill>
                <a:latin typeface="Arial" pitchFamily="34" charset="0"/>
                <a:ea typeface="Arial" pitchFamily="34" charset="-122"/>
                <a:cs typeface="Arial" pitchFamily="34" charset="-120"/>
              </a:rPr>
              <a:t>For discussion, not a commitment</a:t>
            </a:r>
            <a:endParaRPr lang="en-US" sz="1300" dirty="0"/>
          </a:p>
        </p:txBody>
      </p:sp>
      <p:sp>
        <p:nvSpPr>
          <p:cNvPr id="23" name="Text 21"/>
          <p:cNvSpPr/>
          <p:nvPr/>
        </p:nvSpPr>
        <p:spPr>
          <a:xfrm>
            <a:off x="711200" y="6400800"/>
            <a:ext cx="26162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F6B7A"/>
                </a:solidFill>
                <a:latin typeface="Arial" pitchFamily="34" charset="0"/>
                <a:ea typeface="Arial" pitchFamily="34" charset="-122"/>
                <a:cs typeface="Arial" pitchFamily="34" charset="-120"/>
              </a:rPr>
              <a:t>TA Data and Insights · Q4 2026 update</a:t>
            </a:r>
            <a:endParaRPr lang="en-US" sz="1000" dirty="0"/>
          </a:p>
        </p:txBody>
      </p:sp>
      <p:sp>
        <p:nvSpPr>
          <p:cNvPr id="24" name="Text 22"/>
          <p:cNvSpPr/>
          <p:nvPr/>
        </p:nvSpPr>
        <p:spPr>
          <a:xfrm>
            <a:off x="5508923" y="6400800"/>
            <a:ext cx="1408867" cy="203200"/>
          </a:xfrm>
          <a:prstGeom prst="rect">
            <a:avLst/>
          </a:prstGeom>
          <a:noFill/>
          <a:ln/>
        </p:spPr>
        <p:txBody>
          <a:bodyPr wrap="square" lIns="0" tIns="0" rIns="0" bIns="0" rtlCol="0" anchor="t">
            <a:normAutofit/>
          </a:bodyPr>
          <a:lstStyle/>
          <a:p>
            <a:pPr algn="l" indent="0" marL="0">
              <a:lnSpc>
                <a:spcPts val="1400"/>
              </a:lnSpc>
              <a:buNone/>
            </a:pPr>
            <a:r>
              <a:rPr lang="en-US" sz="1000" b="1" spc="150" kern="0" dirty="0">
                <a:solidFill>
                  <a:srgbClr val="5F6B7A"/>
                </a:solidFill>
                <a:latin typeface="Arial" pitchFamily="34" charset="0"/>
                <a:ea typeface="Arial" pitchFamily="34" charset="-122"/>
                <a:cs typeface="Arial" pitchFamily="34" charset="-120"/>
              </a:rPr>
              <a:t>CONFIDENTIAL</a:t>
            </a:r>
            <a:endParaRPr lang="en-US" sz="1000" dirty="0"/>
          </a:p>
        </p:txBody>
      </p:sp>
      <p:sp>
        <p:nvSpPr>
          <p:cNvPr id="25" name="Text 23"/>
          <p:cNvSpPr/>
          <p:nvPr/>
        </p:nvSpPr>
        <p:spPr>
          <a:xfrm>
            <a:off x="8864501" y="64008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5F6B7A"/>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C54"/>
        </a:solidFill>
      </p:bgPr>
    </p:bg>
    <p:spTree>
      <p:nvGrpSpPr>
        <p:cNvPr id="1" name=""/>
        <p:cNvGrpSpPr/>
        <p:nvPr/>
      </p:nvGrpSpPr>
      <p:grpSpPr>
        <a:xfrm>
          <a:off x="0" y="0"/>
          <a:ext cx="0" cy="0"/>
          <a:chOff x="0" y="0"/>
          <a:chExt cx="0" cy="0"/>
        </a:xfrm>
      </p:grpSpPr>
      <p:sp>
        <p:nvSpPr>
          <p:cNvPr id="2" name="Shape 0"/>
          <p:cNvSpPr/>
          <p:nvPr/>
        </p:nvSpPr>
        <p:spPr>
          <a:xfrm>
            <a:off x="711200" y="2949575"/>
            <a:ext cx="1016000" cy="63500"/>
          </a:xfrm>
          <a:prstGeom prst="rect">
            <a:avLst/>
          </a:prstGeom>
          <a:solidFill>
            <a:srgbClr val="F2B33D"/>
          </a:solidFill>
          <a:ln/>
        </p:spPr>
      </p:sp>
      <p:sp>
        <p:nvSpPr>
          <p:cNvPr id="3" name="Text 1"/>
          <p:cNvSpPr/>
          <p:nvPr>
            <p:ph type="title"/>
          </p:nvPr>
        </p:nvSpPr>
        <p:spPr>
          <a:xfrm>
            <a:off x="711200" y="3241675"/>
            <a:ext cx="11092688" cy="69215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FFFFF"/>
                </a:solidFill>
                <a:latin typeface="Arial" pitchFamily="34" charset="0"/>
                <a:ea typeface="Arial" pitchFamily="34" charset="-122"/>
                <a:cs typeface="Arial" pitchFamily="34" charset="-120"/>
              </a:rPr>
              <a:t>What the team has delivered</a:t>
            </a:r>
            <a:endParaRPr lang="en-US" sz="4800" dirty="0"/>
          </a:p>
        </p:txBody>
      </p:sp>
      <p:sp>
        <p:nvSpPr>
          <p:cNvPr id="4" name="Text 2"/>
          <p:cNvSpPr/>
          <p:nvPr/>
        </p:nvSpPr>
        <p:spPr>
          <a:xfrm>
            <a:off x="-182880" y="6400800"/>
            <a:ext cx="12557760" cy="203200"/>
          </a:xfrm>
          <a:prstGeom prst="rect">
            <a:avLst/>
          </a:prstGeom>
          <a:noFill/>
          <a:ln/>
        </p:spPr>
        <p:txBody>
          <a:bodyPr wrap="square" lIns="0" tIns="0" rIns="0" bIns="0" rtlCol="0" anchor="t">
            <a:normAutofit/>
          </a:bodyPr>
          <a:lstStyle/>
          <a:p>
            <a:pPr algn="ctr" indent="0" marL="0">
              <a:lnSpc>
                <a:spcPts val="1400"/>
              </a:lnSpc>
              <a:buNone/>
            </a:pPr>
            <a:r>
              <a:rPr lang="en-US" sz="1000" b="1" spc="150" kern="0" dirty="0">
                <a:solidFill>
                  <a:srgbClr val="C9D6E6"/>
                </a:solidFill>
                <a:latin typeface="Arial" pitchFamily="34" charset="0"/>
                <a:ea typeface="Arial" pitchFamily="34" charset="-122"/>
                <a:cs typeface="Arial" pitchFamily="34" charset="-120"/>
              </a:rPr>
              <a:t>CONFIDENTIAL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711200" y="508000"/>
            <a:ext cx="11092688" cy="40005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D2C54"/>
                </a:solidFill>
                <a:latin typeface="Arial" pitchFamily="34" charset="0"/>
                <a:ea typeface="Arial" pitchFamily="34" charset="-122"/>
                <a:cs typeface="Arial" pitchFamily="34" charset="-120"/>
              </a:rPr>
              <a:t>Questions</a:t>
            </a:r>
            <a:endParaRPr lang="en-US" sz="2600" dirty="0"/>
          </a:p>
        </p:txBody>
      </p:sp>
      <p:sp>
        <p:nvSpPr>
          <p:cNvPr id="3" name="Shape 1"/>
          <p:cNvSpPr/>
          <p:nvPr/>
        </p:nvSpPr>
        <p:spPr>
          <a:xfrm>
            <a:off x="711200" y="1085850"/>
            <a:ext cx="10769600" cy="4959350"/>
          </a:xfrm>
          <a:prstGeom prst="rect">
            <a:avLst/>
          </a:prstGeom>
          <a:solidFill>
            <a:srgbClr val="DCEBF2"/>
          </a:solidFill>
          <a:ln/>
        </p:spPr>
      </p:sp>
      <p:sp>
        <p:nvSpPr>
          <p:cNvPr id="4" name="Shape 2"/>
          <p:cNvSpPr/>
          <p:nvPr/>
        </p:nvSpPr>
        <p:spPr>
          <a:xfrm>
            <a:off x="1066800" y="1390650"/>
            <a:ext cx="76200" cy="76200"/>
          </a:xfrm>
          <a:prstGeom prst="rect">
            <a:avLst/>
          </a:prstGeom>
          <a:solidFill>
            <a:srgbClr val="F2B33D"/>
          </a:solidFill>
          <a:ln/>
        </p:spPr>
      </p:sp>
      <p:sp>
        <p:nvSpPr>
          <p:cNvPr id="5" name="Text 3"/>
          <p:cNvSpPr/>
          <p:nvPr/>
        </p:nvSpPr>
        <p:spPr>
          <a:xfrm>
            <a:off x="1257300" y="1390650"/>
            <a:ext cx="10163937" cy="3238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[Question]</a:t>
            </a:r>
            <a:endParaRPr lang="en-US" sz="1700" dirty="0"/>
          </a:p>
        </p:txBody>
      </p:sp>
      <p:sp>
        <p:nvSpPr>
          <p:cNvPr id="6" name="Shape 4"/>
          <p:cNvSpPr/>
          <p:nvPr/>
        </p:nvSpPr>
        <p:spPr>
          <a:xfrm>
            <a:off x="1066800" y="1879600"/>
            <a:ext cx="76200" cy="76200"/>
          </a:xfrm>
          <a:prstGeom prst="rect">
            <a:avLst/>
          </a:prstGeom>
          <a:solidFill>
            <a:srgbClr val="F2B33D"/>
          </a:solidFill>
          <a:ln/>
        </p:spPr>
      </p:sp>
      <p:sp>
        <p:nvSpPr>
          <p:cNvPr id="7" name="Text 5"/>
          <p:cNvSpPr/>
          <p:nvPr/>
        </p:nvSpPr>
        <p:spPr>
          <a:xfrm>
            <a:off x="1257300" y="1879600"/>
            <a:ext cx="10163937" cy="3238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[Question]</a:t>
            </a:r>
            <a:endParaRPr lang="en-US" sz="1700" dirty="0"/>
          </a:p>
        </p:txBody>
      </p:sp>
      <p:sp>
        <p:nvSpPr>
          <p:cNvPr id="8" name="Shape 6"/>
          <p:cNvSpPr/>
          <p:nvPr/>
        </p:nvSpPr>
        <p:spPr>
          <a:xfrm>
            <a:off x="1066800" y="2368550"/>
            <a:ext cx="76200" cy="76200"/>
          </a:xfrm>
          <a:prstGeom prst="rect">
            <a:avLst/>
          </a:prstGeom>
          <a:solidFill>
            <a:srgbClr val="F2B33D"/>
          </a:solidFill>
          <a:ln/>
        </p:spPr>
      </p:sp>
      <p:sp>
        <p:nvSpPr>
          <p:cNvPr id="9" name="Text 7"/>
          <p:cNvSpPr/>
          <p:nvPr/>
        </p:nvSpPr>
        <p:spPr>
          <a:xfrm>
            <a:off x="1257300" y="2368550"/>
            <a:ext cx="10163937" cy="3238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[Question]</a:t>
            </a:r>
            <a:endParaRPr lang="en-US" sz="1700" dirty="0"/>
          </a:p>
        </p:txBody>
      </p:sp>
      <p:sp>
        <p:nvSpPr>
          <p:cNvPr id="10" name="Text 8"/>
          <p:cNvSpPr/>
          <p:nvPr/>
        </p:nvSpPr>
        <p:spPr>
          <a:xfrm>
            <a:off x="711200" y="6400800"/>
            <a:ext cx="26162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F6B7A"/>
                </a:solidFill>
                <a:latin typeface="Arial" pitchFamily="34" charset="0"/>
                <a:ea typeface="Arial" pitchFamily="34" charset="-122"/>
                <a:cs typeface="Arial" pitchFamily="34" charset="-120"/>
              </a:rPr>
              <a:t>TA Data and Insights · Q4 2026 update</a:t>
            </a:r>
            <a:endParaRPr lang="en-US" sz="1000" dirty="0"/>
          </a:p>
        </p:txBody>
      </p:sp>
      <p:sp>
        <p:nvSpPr>
          <p:cNvPr id="11" name="Text 9"/>
          <p:cNvSpPr/>
          <p:nvPr/>
        </p:nvSpPr>
        <p:spPr>
          <a:xfrm>
            <a:off x="5508923" y="6400800"/>
            <a:ext cx="1408867" cy="203200"/>
          </a:xfrm>
          <a:prstGeom prst="rect">
            <a:avLst/>
          </a:prstGeom>
          <a:noFill/>
          <a:ln/>
        </p:spPr>
        <p:txBody>
          <a:bodyPr wrap="square" lIns="0" tIns="0" rIns="0" bIns="0" rtlCol="0" anchor="t">
            <a:normAutofit/>
          </a:bodyPr>
          <a:lstStyle/>
          <a:p>
            <a:pPr algn="l" indent="0" marL="0">
              <a:lnSpc>
                <a:spcPts val="1400"/>
              </a:lnSpc>
              <a:buNone/>
            </a:pPr>
            <a:r>
              <a:rPr lang="en-US" sz="1000" b="1" spc="150" kern="0" dirty="0">
                <a:solidFill>
                  <a:srgbClr val="5F6B7A"/>
                </a:solidFill>
                <a:latin typeface="Arial" pitchFamily="34" charset="0"/>
                <a:ea typeface="Arial" pitchFamily="34" charset="-122"/>
                <a:cs typeface="Arial" pitchFamily="34" charset="-120"/>
              </a:rPr>
              <a:t>CONFIDENTIAL</a:t>
            </a:r>
            <a:endParaRPr lang="en-US" sz="1000" dirty="0"/>
          </a:p>
        </p:txBody>
      </p:sp>
      <p:sp>
        <p:nvSpPr>
          <p:cNvPr id="12" name="Text 10"/>
          <p:cNvSpPr/>
          <p:nvPr/>
        </p:nvSpPr>
        <p:spPr>
          <a:xfrm>
            <a:off x="8864501" y="64008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5F6B7A"/>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C54"/>
        </a:solidFill>
      </p:bgPr>
    </p:bg>
    <p:spTree>
      <p:nvGrpSpPr>
        <p:cNvPr id="1" name=""/>
        <p:cNvGrpSpPr/>
        <p:nvPr/>
      </p:nvGrpSpPr>
      <p:grpSpPr>
        <a:xfrm>
          <a:off x="0" y="0"/>
          <a:ext cx="0" cy="0"/>
          <a:chOff x="0" y="0"/>
          <a:chExt cx="0" cy="0"/>
        </a:xfrm>
      </p:grpSpPr>
      <p:sp>
        <p:nvSpPr>
          <p:cNvPr id="2" name="Shape 0"/>
          <p:cNvSpPr/>
          <p:nvPr/>
        </p:nvSpPr>
        <p:spPr>
          <a:xfrm>
            <a:off x="711200" y="2686050"/>
            <a:ext cx="1016000" cy="63500"/>
          </a:xfrm>
          <a:prstGeom prst="rect">
            <a:avLst/>
          </a:prstGeom>
          <a:solidFill>
            <a:srgbClr val="F2B33D"/>
          </a:solidFill>
          <a:ln/>
        </p:spPr>
      </p:sp>
      <p:sp>
        <p:nvSpPr>
          <p:cNvPr id="3" name="Text 1"/>
          <p:cNvSpPr/>
          <p:nvPr>
            <p:ph type="title"/>
          </p:nvPr>
        </p:nvSpPr>
        <p:spPr>
          <a:xfrm>
            <a:off x="711200" y="2978150"/>
            <a:ext cx="11092688" cy="69215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FFFFF"/>
                </a:solidFill>
                <a:latin typeface="Arial" pitchFamily="34" charset="0"/>
                <a:ea typeface="Arial" pitchFamily="34" charset="-122"/>
                <a:cs typeface="Arial" pitchFamily="34" charset="-120"/>
              </a:rPr>
              <a:t>Appendix</a:t>
            </a:r>
            <a:endParaRPr lang="en-US" sz="4800" dirty="0"/>
          </a:p>
        </p:txBody>
      </p:sp>
      <p:sp>
        <p:nvSpPr>
          <p:cNvPr id="4" name="Text 2"/>
          <p:cNvSpPr/>
          <p:nvPr/>
        </p:nvSpPr>
        <p:spPr>
          <a:xfrm>
            <a:off x="711200" y="3873500"/>
            <a:ext cx="11092688" cy="3238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6E6"/>
                </a:solidFill>
                <a:latin typeface="Arial" pitchFamily="34" charset="0"/>
                <a:ea typeface="Arial" pitchFamily="34" charset="-122"/>
                <a:cs typeface="Arial" pitchFamily="34" charset="-120"/>
              </a:rPr>
              <a:t>Supporting slides</a:t>
            </a:r>
            <a:endParaRPr lang="en-US" sz="1700" dirty="0"/>
          </a:p>
        </p:txBody>
      </p:sp>
      <p:sp>
        <p:nvSpPr>
          <p:cNvPr id="5" name="Text 3"/>
          <p:cNvSpPr/>
          <p:nvPr/>
        </p:nvSpPr>
        <p:spPr>
          <a:xfrm>
            <a:off x="-182880" y="6400800"/>
            <a:ext cx="12557760" cy="203200"/>
          </a:xfrm>
          <a:prstGeom prst="rect">
            <a:avLst/>
          </a:prstGeom>
          <a:noFill/>
          <a:ln/>
        </p:spPr>
        <p:txBody>
          <a:bodyPr wrap="square" lIns="0" tIns="0" rIns="0" bIns="0" rtlCol="0" anchor="t">
            <a:normAutofit/>
          </a:bodyPr>
          <a:lstStyle/>
          <a:p>
            <a:pPr algn="ctr" indent="0" marL="0">
              <a:lnSpc>
                <a:spcPts val="1400"/>
              </a:lnSpc>
              <a:buNone/>
            </a:pPr>
            <a:r>
              <a:rPr lang="en-US" sz="1000" b="1" spc="150" kern="0" dirty="0">
                <a:solidFill>
                  <a:srgbClr val="C9D6E6"/>
                </a:solidFill>
                <a:latin typeface="Arial" pitchFamily="34" charset="0"/>
                <a:ea typeface="Arial" pitchFamily="34" charset="-122"/>
                <a:cs typeface="Arial" pitchFamily="34" charset="-120"/>
              </a:rPr>
              <a:t>CONFIDENTIAL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711200" y="508000"/>
            <a:ext cx="11092688" cy="40005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D2C54"/>
                </a:solidFill>
                <a:latin typeface="Arial" pitchFamily="34" charset="0"/>
                <a:ea typeface="Arial" pitchFamily="34" charset="-122"/>
                <a:cs typeface="Arial" pitchFamily="34" charset="-120"/>
              </a:rPr>
              <a:t>Appendix: the audit and the build run side by side</a:t>
            </a:r>
            <a:endParaRPr lang="en-US" sz="2600" dirty="0"/>
          </a:p>
        </p:txBody>
      </p:sp>
      <p:sp>
        <p:nvSpPr>
          <p:cNvPr id="3" name="Text 1"/>
          <p:cNvSpPr/>
          <p:nvPr/>
        </p:nvSpPr>
        <p:spPr>
          <a:xfrm>
            <a:off x="2844800" y="1365250"/>
            <a:ext cx="2851150" cy="355600"/>
          </a:xfrm>
          <a:prstGeom prst="rect">
            <a:avLst/>
          </a:prstGeom>
          <a:solidFill>
            <a:srgbClr val="0D2C54"/>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October</a:t>
            </a:r>
            <a:endParaRPr lang="en-US" sz="1300" dirty="0"/>
          </a:p>
        </p:txBody>
      </p:sp>
      <p:sp>
        <p:nvSpPr>
          <p:cNvPr id="4" name="Text 2"/>
          <p:cNvSpPr/>
          <p:nvPr/>
        </p:nvSpPr>
        <p:spPr>
          <a:xfrm>
            <a:off x="5721350" y="1365250"/>
            <a:ext cx="2851150" cy="355600"/>
          </a:xfrm>
          <a:prstGeom prst="rect">
            <a:avLst/>
          </a:prstGeom>
          <a:solidFill>
            <a:srgbClr val="0D2C54"/>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November</a:t>
            </a:r>
            <a:endParaRPr lang="en-US" sz="1300" dirty="0"/>
          </a:p>
        </p:txBody>
      </p:sp>
      <p:sp>
        <p:nvSpPr>
          <p:cNvPr id="5" name="Text 3"/>
          <p:cNvSpPr/>
          <p:nvPr/>
        </p:nvSpPr>
        <p:spPr>
          <a:xfrm>
            <a:off x="8597900" y="1365250"/>
            <a:ext cx="2851150" cy="355600"/>
          </a:xfrm>
          <a:prstGeom prst="rect">
            <a:avLst/>
          </a:prstGeom>
          <a:solidFill>
            <a:srgbClr val="0D2C54"/>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December</a:t>
            </a:r>
            <a:endParaRPr lang="en-US" sz="1300" dirty="0"/>
          </a:p>
        </p:txBody>
      </p:sp>
      <p:sp>
        <p:nvSpPr>
          <p:cNvPr id="6" name="Text 4"/>
          <p:cNvSpPr/>
          <p:nvPr/>
        </p:nvSpPr>
        <p:spPr>
          <a:xfrm>
            <a:off x="3778250" y="1035050"/>
            <a:ext cx="939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8102E"/>
                </a:solidFill>
                <a:latin typeface="Arial" pitchFamily="34" charset="0"/>
                <a:ea typeface="Arial" pitchFamily="34" charset="-122"/>
                <a:cs typeface="Arial" pitchFamily="34" charset="-120"/>
              </a:rPr>
              <a:t>★ Today</a:t>
            </a:r>
            <a:endParaRPr lang="en-US" sz="1200" dirty="0"/>
          </a:p>
        </p:txBody>
      </p:sp>
      <p:pic>
        <p:nvPicPr>
          <p:cNvPr id="7" name="Image 0" descr="connector">    </p:cNvPr>
          <p:cNvPicPr>
            <a:picLocks noChangeAspect="1"/>
          </p:cNvPicPr>
          <p:nvPr/>
        </p:nvPicPr>
        <p:blipFill>
          <a:blip r:embed="rId1"/>
          <a:srcRect l="0" r="0" t="0" b="0"/>
          <a:stretch/>
        </p:blipFill>
        <p:spPr>
          <a:xfrm>
            <a:off x="4197350" y="1212850"/>
            <a:ext cx="101600" cy="3302000"/>
          </a:xfrm>
          <a:prstGeom prst="rect">
            <a:avLst/>
          </a:prstGeom>
        </p:spPr>
      </p:pic>
      <p:sp>
        <p:nvSpPr>
          <p:cNvPr id="8" name="Text 5"/>
          <p:cNvSpPr/>
          <p:nvPr/>
        </p:nvSpPr>
        <p:spPr>
          <a:xfrm>
            <a:off x="711200" y="2012950"/>
            <a:ext cx="2027555"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D2C54"/>
                </a:solidFill>
                <a:latin typeface="Arial" pitchFamily="34" charset="0"/>
                <a:ea typeface="Arial" pitchFamily="34" charset="-122"/>
                <a:cs typeface="Arial" pitchFamily="34" charset="-120"/>
              </a:rPr>
              <a:t>Architecture</a:t>
            </a:r>
            <a:endParaRPr lang="en-US" sz="1400" dirty="0"/>
          </a:p>
        </p:txBody>
      </p:sp>
      <p:sp>
        <p:nvSpPr>
          <p:cNvPr id="9" name="Text 6"/>
          <p:cNvSpPr/>
          <p:nvPr/>
        </p:nvSpPr>
        <p:spPr>
          <a:xfrm>
            <a:off x="2844800" y="1873250"/>
            <a:ext cx="8610600" cy="508000"/>
          </a:xfrm>
          <a:prstGeom prst="rect">
            <a:avLst/>
          </a:prstGeom>
          <a:solidFill>
            <a:srgbClr val="0D2C54"/>
          </a:solidFill>
          <a:ln/>
        </p:spPr>
        <p:txBody>
          <a:bodyPr wrap="square" lIns="177800" tIns="0" rIns="177800" bIns="0" rtlCol="0" anchor="ctr">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Start on the parts the audit won’t change</a:t>
            </a:r>
            <a:endParaRPr lang="en-US" sz="1400" dirty="0"/>
          </a:p>
        </p:txBody>
      </p:sp>
      <p:sp>
        <p:nvSpPr>
          <p:cNvPr id="10" name="Text 7"/>
          <p:cNvSpPr/>
          <p:nvPr/>
        </p:nvSpPr>
        <p:spPr>
          <a:xfrm>
            <a:off x="711200" y="2647950"/>
            <a:ext cx="2027555"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D2C54"/>
                </a:solidFill>
                <a:latin typeface="Arial" pitchFamily="34" charset="0"/>
                <a:ea typeface="Arial" pitchFamily="34" charset="-122"/>
                <a:cs typeface="Arial" pitchFamily="34" charset="-120"/>
              </a:rPr>
              <a:t>Audit</a:t>
            </a:r>
            <a:endParaRPr lang="en-US" sz="1400" dirty="0"/>
          </a:p>
        </p:txBody>
      </p:sp>
      <p:sp>
        <p:nvSpPr>
          <p:cNvPr id="11" name="Text 8"/>
          <p:cNvSpPr/>
          <p:nvPr/>
        </p:nvSpPr>
        <p:spPr>
          <a:xfrm>
            <a:off x="2844800" y="2508250"/>
            <a:ext cx="8610600" cy="508000"/>
          </a:xfrm>
          <a:prstGeom prst="rect">
            <a:avLst/>
          </a:prstGeom>
          <a:solidFill>
            <a:srgbClr val="F2B33D"/>
          </a:solidFill>
          <a:ln/>
        </p:spPr>
        <p:txBody>
          <a:bodyPr wrap="square" lIns="177800" tIns="0" rIns="177800" bIns="0" rtlCol="0" anchor="ctr">
            <a:normAutofit/>
          </a:bodyPr>
          <a:lstStyle/>
          <a:p>
            <a:pPr algn="l" indent="0" marL="0">
              <a:lnSpc>
                <a:spcPts val="1960"/>
              </a:lnSpc>
              <a:buNone/>
            </a:pPr>
            <a:r>
              <a:rPr lang="en-US" sz="1400" b="1" dirty="0">
                <a:solidFill>
                  <a:srgbClr val="0D2C54"/>
                </a:solidFill>
                <a:latin typeface="Arial" pitchFamily="34" charset="0"/>
                <a:ea typeface="Arial" pitchFamily="34" charset="-122"/>
                <a:cs typeface="Arial" pitchFamily="34" charset="-120"/>
              </a:rPr>
              <a:t>Document every table, product and metric</a:t>
            </a:r>
            <a:endParaRPr lang="en-US" sz="1400" dirty="0"/>
          </a:p>
        </p:txBody>
      </p:sp>
      <p:sp>
        <p:nvSpPr>
          <p:cNvPr id="12" name="Text 9"/>
          <p:cNvSpPr/>
          <p:nvPr/>
        </p:nvSpPr>
        <p:spPr>
          <a:xfrm>
            <a:off x="711200" y="3282950"/>
            <a:ext cx="2027555"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D2C54"/>
                </a:solidFill>
                <a:latin typeface="Arial" pitchFamily="34" charset="0"/>
                <a:ea typeface="Arial" pitchFamily="34" charset="-122"/>
                <a:cs typeface="Arial" pitchFamily="34" charset="-120"/>
              </a:rPr>
              <a:t>Metric dictionary</a:t>
            </a:r>
            <a:endParaRPr lang="en-US" sz="1400" dirty="0"/>
          </a:p>
        </p:txBody>
      </p:sp>
      <p:sp>
        <p:nvSpPr>
          <p:cNvPr id="13" name="Text 10"/>
          <p:cNvSpPr/>
          <p:nvPr/>
        </p:nvSpPr>
        <p:spPr>
          <a:xfrm>
            <a:off x="2844800" y="3143250"/>
            <a:ext cx="8610600" cy="508000"/>
          </a:xfrm>
          <a:prstGeom prst="rect">
            <a:avLst/>
          </a:prstGeom>
          <a:solidFill>
            <a:srgbClr val="4F81B0"/>
          </a:solidFill>
          <a:ln/>
        </p:spPr>
        <p:txBody>
          <a:bodyPr wrap="square" lIns="177800" tIns="0" rIns="177800" bIns="0" rtlCol="0" anchor="ctr">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Start agreeing metric definitions</a:t>
            </a:r>
            <a:endParaRPr lang="en-US" sz="1400" dirty="0"/>
          </a:p>
        </p:txBody>
      </p:sp>
      <p:sp>
        <p:nvSpPr>
          <p:cNvPr id="14" name="Text 11"/>
          <p:cNvSpPr/>
          <p:nvPr/>
        </p:nvSpPr>
        <p:spPr>
          <a:xfrm>
            <a:off x="711200" y="3917950"/>
            <a:ext cx="2027555"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D2C54"/>
                </a:solidFill>
                <a:latin typeface="Arial" pitchFamily="34" charset="0"/>
                <a:ea typeface="Arial" pitchFamily="34" charset="-122"/>
                <a:cs typeface="Arial" pitchFamily="34" charset="-120"/>
              </a:rPr>
              <a:t>Live reports</a:t>
            </a:r>
            <a:endParaRPr lang="en-US" sz="1400" dirty="0"/>
          </a:p>
        </p:txBody>
      </p:sp>
      <p:sp>
        <p:nvSpPr>
          <p:cNvPr id="15" name="Text 12"/>
          <p:cNvSpPr/>
          <p:nvPr/>
        </p:nvSpPr>
        <p:spPr>
          <a:xfrm>
            <a:off x="2844800" y="3778250"/>
            <a:ext cx="8610600" cy="508000"/>
          </a:xfrm>
          <a:prstGeom prst="rect">
            <a:avLst/>
          </a:prstGeom>
          <a:solidFill>
            <a:srgbClr val="D9DCE1"/>
          </a:solidFill>
          <a:ln/>
        </p:spPr>
        <p:txBody>
          <a:bodyPr wrap="square" lIns="177800" tIns="0" rIns="177800" bIns="0" rtlCol="0" anchor="ctr">
            <a:normAutofit/>
          </a:bodyPr>
          <a:lstStyle/>
          <a:p>
            <a:pPr algn="l" indent="0" marL="0">
              <a:lnSpc>
                <a:spcPts val="1960"/>
              </a:lnSpc>
              <a:buNone/>
            </a:pPr>
            <a:r>
              <a:rPr lang="en-US" sz="1400" b="1" dirty="0">
                <a:solidFill>
                  <a:srgbClr val="1F2933"/>
                </a:solidFill>
                <a:latin typeface="Arial" pitchFamily="34" charset="0"/>
                <a:ea typeface="Arial" pitchFamily="34" charset="-122"/>
                <a:cs typeface="Arial" pitchFamily="34" charset="-120"/>
              </a:rPr>
              <a:t>Monitor proactively and keep users informed</a:t>
            </a:r>
            <a:endParaRPr lang="en-US" sz="1400" dirty="0"/>
          </a:p>
        </p:txBody>
      </p:sp>
      <p:sp>
        <p:nvSpPr>
          <p:cNvPr id="16" name="Shape 13"/>
          <p:cNvSpPr/>
          <p:nvPr/>
        </p:nvSpPr>
        <p:spPr>
          <a:xfrm>
            <a:off x="711200" y="4616450"/>
            <a:ext cx="10769600" cy="889000"/>
          </a:xfrm>
          <a:prstGeom prst="rect">
            <a:avLst/>
          </a:prstGeom>
          <a:solidFill>
            <a:srgbClr val="F4EFE6"/>
          </a:solidFill>
          <a:ln/>
        </p:spPr>
      </p:sp>
      <p:sp>
        <p:nvSpPr>
          <p:cNvPr id="17" name="Shape 14"/>
          <p:cNvSpPr/>
          <p:nvPr/>
        </p:nvSpPr>
        <p:spPr>
          <a:xfrm>
            <a:off x="914400" y="4768850"/>
            <a:ext cx="76200" cy="76200"/>
          </a:xfrm>
          <a:prstGeom prst="rect">
            <a:avLst/>
          </a:prstGeom>
          <a:solidFill>
            <a:srgbClr val="F2B33D"/>
          </a:solidFill>
          <a:ln/>
        </p:spPr>
      </p:sp>
      <p:sp>
        <p:nvSpPr>
          <p:cNvPr id="18" name="Text 15"/>
          <p:cNvSpPr/>
          <p:nvPr/>
        </p:nvSpPr>
        <p:spPr>
          <a:xfrm>
            <a:off x="1104900" y="4768850"/>
            <a:ext cx="10477881"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933"/>
                </a:solidFill>
                <a:latin typeface="Arial" pitchFamily="34" charset="0"/>
                <a:ea typeface="Arial" pitchFamily="34" charset="-122"/>
                <a:cs typeface="Arial" pitchFamily="34" charset="-120"/>
              </a:rPr>
              <a:t>We don’t wait for the audit to finish before we start building</a:t>
            </a:r>
            <a:endParaRPr lang="en-US" sz="1400" dirty="0"/>
          </a:p>
        </p:txBody>
      </p:sp>
      <p:sp>
        <p:nvSpPr>
          <p:cNvPr id="19" name="Shape 16"/>
          <p:cNvSpPr/>
          <p:nvPr/>
        </p:nvSpPr>
        <p:spPr>
          <a:xfrm>
            <a:off x="914400" y="5105400"/>
            <a:ext cx="76200" cy="76200"/>
          </a:xfrm>
          <a:prstGeom prst="rect">
            <a:avLst/>
          </a:prstGeom>
          <a:solidFill>
            <a:srgbClr val="F2B33D"/>
          </a:solidFill>
          <a:ln/>
        </p:spPr>
      </p:sp>
      <p:sp>
        <p:nvSpPr>
          <p:cNvPr id="20" name="Text 17"/>
          <p:cNvSpPr/>
          <p:nvPr/>
        </p:nvSpPr>
        <p:spPr>
          <a:xfrm>
            <a:off x="1104900" y="5105400"/>
            <a:ext cx="10477881"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933"/>
                </a:solidFill>
                <a:latin typeface="Arial" pitchFamily="34" charset="0"/>
                <a:ea typeface="Arial" pitchFamily="34" charset="-122"/>
                <a:cs typeface="Arial" pitchFamily="34" charset="-120"/>
              </a:rPr>
              <a:t>The audit shapes what we build as it goes</a:t>
            </a:r>
            <a:endParaRPr lang="en-US" sz="1400" dirty="0"/>
          </a:p>
        </p:txBody>
      </p:sp>
      <p:sp>
        <p:nvSpPr>
          <p:cNvPr id="21" name="Text 18"/>
          <p:cNvSpPr/>
          <p:nvPr/>
        </p:nvSpPr>
        <p:spPr>
          <a:xfrm>
            <a:off x="711200" y="6400800"/>
            <a:ext cx="26162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F6B7A"/>
                </a:solidFill>
                <a:latin typeface="Arial" pitchFamily="34" charset="0"/>
                <a:ea typeface="Arial" pitchFamily="34" charset="-122"/>
                <a:cs typeface="Arial" pitchFamily="34" charset="-120"/>
              </a:rPr>
              <a:t>TA Data and Insights · Q4 2026 update</a:t>
            </a:r>
            <a:endParaRPr lang="en-US" sz="1000" dirty="0"/>
          </a:p>
        </p:txBody>
      </p:sp>
      <p:sp>
        <p:nvSpPr>
          <p:cNvPr id="22" name="Text 19"/>
          <p:cNvSpPr/>
          <p:nvPr/>
        </p:nvSpPr>
        <p:spPr>
          <a:xfrm>
            <a:off x="5508923" y="6400800"/>
            <a:ext cx="1408867" cy="203200"/>
          </a:xfrm>
          <a:prstGeom prst="rect">
            <a:avLst/>
          </a:prstGeom>
          <a:noFill/>
          <a:ln/>
        </p:spPr>
        <p:txBody>
          <a:bodyPr wrap="square" lIns="0" tIns="0" rIns="0" bIns="0" rtlCol="0" anchor="t">
            <a:normAutofit/>
          </a:bodyPr>
          <a:lstStyle/>
          <a:p>
            <a:pPr algn="l" indent="0" marL="0">
              <a:lnSpc>
                <a:spcPts val="1400"/>
              </a:lnSpc>
              <a:buNone/>
            </a:pPr>
            <a:r>
              <a:rPr lang="en-US" sz="1000" b="1" spc="150" kern="0" dirty="0">
                <a:solidFill>
                  <a:srgbClr val="5F6B7A"/>
                </a:solidFill>
                <a:latin typeface="Arial" pitchFamily="34" charset="0"/>
                <a:ea typeface="Arial" pitchFamily="34" charset="-122"/>
                <a:cs typeface="Arial" pitchFamily="34" charset="-120"/>
              </a:rPr>
              <a:t>CONFIDENTIAL</a:t>
            </a:r>
            <a:endParaRPr lang="en-US" sz="1000" dirty="0"/>
          </a:p>
        </p:txBody>
      </p:sp>
      <p:sp>
        <p:nvSpPr>
          <p:cNvPr id="23" name="Text 20"/>
          <p:cNvSpPr/>
          <p:nvPr/>
        </p:nvSpPr>
        <p:spPr>
          <a:xfrm>
            <a:off x="8864501" y="64008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5F6B7A"/>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711200" y="508000"/>
            <a:ext cx="11092688" cy="40005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D2C54"/>
                </a:solidFill>
                <a:latin typeface="Arial" pitchFamily="34" charset="0"/>
                <a:ea typeface="Arial" pitchFamily="34" charset="-122"/>
                <a:cs typeface="Arial" pitchFamily="34" charset="-120"/>
              </a:rPr>
              <a:t>Appendix: getting ready for the TA data declaration</a:t>
            </a:r>
            <a:endParaRPr lang="en-US" sz="2600" dirty="0"/>
          </a:p>
        </p:txBody>
      </p:sp>
      <p:sp>
        <p:nvSpPr>
          <p:cNvPr id="3" name="Shape 1"/>
          <p:cNvSpPr/>
          <p:nvPr/>
        </p:nvSpPr>
        <p:spPr>
          <a:xfrm>
            <a:off x="711200" y="1060450"/>
            <a:ext cx="10769600" cy="596900"/>
          </a:xfrm>
          <a:prstGeom prst="rect">
            <a:avLst/>
          </a:prstGeom>
          <a:solidFill>
            <a:srgbClr val="F4EFE6"/>
          </a:solidFill>
          <a:ln/>
        </p:spPr>
      </p:sp>
      <p:sp>
        <p:nvSpPr>
          <p:cNvPr id="4" name="Text 2"/>
          <p:cNvSpPr/>
          <p:nvPr/>
        </p:nvSpPr>
        <p:spPr>
          <a:xfrm>
            <a:off x="939800" y="1225550"/>
            <a:ext cx="4825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8102E"/>
                </a:solidFill>
                <a:latin typeface="Arial" pitchFamily="34" charset="0"/>
                <a:ea typeface="Arial" pitchFamily="34" charset="-122"/>
                <a:cs typeface="Arial" pitchFamily="34" charset="-120"/>
              </a:rPr>
              <a:t>Why</a:t>
            </a:r>
            <a:endParaRPr lang="en-US" sz="1500" dirty="0"/>
          </a:p>
        </p:txBody>
      </p:sp>
      <p:sp>
        <p:nvSpPr>
          <p:cNvPr id="5" name="Text 3"/>
          <p:cNvSpPr/>
          <p:nvPr/>
        </p:nvSpPr>
        <p:spPr>
          <a:xfrm>
            <a:off x="1519734" y="1225550"/>
            <a:ext cx="688693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933"/>
                </a:solidFill>
                <a:latin typeface="Arial" pitchFamily="34" charset="0"/>
                <a:ea typeface="Arial" pitchFamily="34" charset="-122"/>
                <a:cs typeface="Arial" pitchFamily="34" charset="-120"/>
              </a:rPr>
              <a:t>When it lands, we need to know exactly what it takes to deliver on it.</a:t>
            </a:r>
            <a:endParaRPr lang="en-US" sz="1500" dirty="0"/>
          </a:p>
        </p:txBody>
      </p:sp>
      <p:sp>
        <p:nvSpPr>
          <p:cNvPr id="6" name="Text 4"/>
          <p:cNvSpPr/>
          <p:nvPr/>
        </p:nvSpPr>
        <p:spPr>
          <a:xfrm>
            <a:off x="711200" y="1835150"/>
            <a:ext cx="3251200"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Step 1: Thorough audit</a:t>
            </a:r>
            <a:endParaRPr lang="en-US" sz="1500" dirty="0"/>
          </a:p>
        </p:txBody>
      </p:sp>
      <p:sp>
        <p:nvSpPr>
          <p:cNvPr id="7" name="Shape 5"/>
          <p:cNvSpPr/>
          <p:nvPr/>
        </p:nvSpPr>
        <p:spPr>
          <a:xfrm>
            <a:off x="711200" y="2470150"/>
            <a:ext cx="3251200" cy="3575050"/>
          </a:xfrm>
          <a:prstGeom prst="rect">
            <a:avLst/>
          </a:prstGeom>
          <a:solidFill>
            <a:srgbClr val="DCEBF2"/>
          </a:solidFill>
          <a:ln/>
        </p:spPr>
      </p:sp>
      <p:sp>
        <p:nvSpPr>
          <p:cNvPr id="8" name="Shape 6"/>
          <p:cNvSpPr/>
          <p:nvPr/>
        </p:nvSpPr>
        <p:spPr>
          <a:xfrm>
            <a:off x="914400" y="2698750"/>
            <a:ext cx="76200" cy="76200"/>
          </a:xfrm>
          <a:prstGeom prst="rect">
            <a:avLst/>
          </a:prstGeom>
          <a:solidFill>
            <a:srgbClr val="F2B33D"/>
          </a:solidFill>
          <a:ln/>
        </p:spPr>
      </p:sp>
      <p:sp>
        <p:nvSpPr>
          <p:cNvPr id="9" name="Text 7"/>
          <p:cNvSpPr/>
          <p:nvPr/>
        </p:nvSpPr>
        <p:spPr>
          <a:xfrm>
            <a:off x="1104900" y="2698750"/>
            <a:ext cx="2733929"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Document every table, product and metric</a:t>
            </a:r>
            <a:endParaRPr lang="en-US" sz="1700" dirty="0"/>
          </a:p>
        </p:txBody>
      </p:sp>
      <p:pic>
        <p:nvPicPr>
          <p:cNvPr id="10" name="Image 0" descr="connector">    </p:cNvPr>
          <p:cNvPicPr>
            <a:picLocks noChangeAspect="1"/>
          </p:cNvPicPr>
          <p:nvPr/>
        </p:nvPicPr>
        <p:blipFill>
          <a:blip r:embed="rId1"/>
          <a:srcRect l="0" r="0" t="0" b="0"/>
          <a:stretch/>
        </p:blipFill>
        <p:spPr>
          <a:xfrm>
            <a:off x="3962400" y="3244850"/>
            <a:ext cx="762000" cy="355600"/>
          </a:xfrm>
          <a:prstGeom prst="rect">
            <a:avLst/>
          </a:prstGeom>
        </p:spPr>
      </p:pic>
      <p:sp>
        <p:nvSpPr>
          <p:cNvPr id="11" name="Text 8"/>
          <p:cNvSpPr/>
          <p:nvPr/>
        </p:nvSpPr>
        <p:spPr>
          <a:xfrm>
            <a:off x="4470400" y="1835150"/>
            <a:ext cx="3251200" cy="635000"/>
          </a:xfrm>
          <a:prstGeom prst="rect">
            <a:avLst/>
          </a:prstGeom>
          <a:solidFill>
            <a:srgbClr val="0D2C54"/>
          </a:solidFill>
          <a:ln/>
        </p:spPr>
        <p:txBody>
          <a:bodyPr wrap="none" lIns="0" tIns="0" rIns="99"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Step 2: Problem-solving session</a:t>
            </a:r>
            <a:endParaRPr lang="en-US" sz="1500" dirty="0"/>
          </a:p>
        </p:txBody>
      </p:sp>
      <p:sp>
        <p:nvSpPr>
          <p:cNvPr id="12" name="Shape 9"/>
          <p:cNvSpPr/>
          <p:nvPr/>
        </p:nvSpPr>
        <p:spPr>
          <a:xfrm>
            <a:off x="4470400" y="2470150"/>
            <a:ext cx="3251200" cy="3575050"/>
          </a:xfrm>
          <a:prstGeom prst="rect">
            <a:avLst/>
          </a:prstGeom>
          <a:solidFill>
            <a:srgbClr val="DCEBF2"/>
          </a:solidFill>
          <a:ln/>
        </p:spPr>
      </p:sp>
      <p:sp>
        <p:nvSpPr>
          <p:cNvPr id="13" name="Shape 10"/>
          <p:cNvSpPr/>
          <p:nvPr/>
        </p:nvSpPr>
        <p:spPr>
          <a:xfrm>
            <a:off x="4673600" y="2698750"/>
            <a:ext cx="76200" cy="76200"/>
          </a:xfrm>
          <a:prstGeom prst="rect">
            <a:avLst/>
          </a:prstGeom>
          <a:solidFill>
            <a:srgbClr val="F2B33D"/>
          </a:solidFill>
          <a:ln/>
        </p:spPr>
      </p:sp>
      <p:sp>
        <p:nvSpPr>
          <p:cNvPr id="14" name="Text 11"/>
          <p:cNvSpPr/>
          <p:nvPr/>
        </p:nvSpPr>
        <p:spPr>
          <a:xfrm>
            <a:off x="4864100" y="2698750"/>
            <a:ext cx="2733929" cy="9207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Two days with TA analysts, TAAA, PDP and the product teams</a:t>
            </a:r>
            <a:endParaRPr lang="en-US" sz="1700" dirty="0"/>
          </a:p>
        </p:txBody>
      </p:sp>
      <p:sp>
        <p:nvSpPr>
          <p:cNvPr id="15" name="Shape 12"/>
          <p:cNvSpPr/>
          <p:nvPr/>
        </p:nvSpPr>
        <p:spPr>
          <a:xfrm>
            <a:off x="4673600" y="3733800"/>
            <a:ext cx="76200" cy="76200"/>
          </a:xfrm>
          <a:prstGeom prst="rect">
            <a:avLst/>
          </a:prstGeom>
          <a:solidFill>
            <a:srgbClr val="F2B33D"/>
          </a:solidFill>
          <a:ln/>
        </p:spPr>
      </p:sp>
      <p:sp>
        <p:nvSpPr>
          <p:cNvPr id="16" name="Text 13"/>
          <p:cNvSpPr/>
          <p:nvPr/>
        </p:nvSpPr>
        <p:spPr>
          <a:xfrm>
            <a:off x="4864100" y="3733800"/>
            <a:ext cx="2733929" cy="12192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Trace the data from the source platforms, into HRDW, and through the business logic</a:t>
            </a:r>
            <a:endParaRPr lang="en-US" sz="1700" dirty="0"/>
          </a:p>
        </p:txBody>
      </p:sp>
      <p:pic>
        <p:nvPicPr>
          <p:cNvPr id="17" name="Image 1" descr="connector">    </p:cNvPr>
          <p:cNvPicPr>
            <a:picLocks noChangeAspect="1"/>
          </p:cNvPicPr>
          <p:nvPr/>
        </p:nvPicPr>
        <p:blipFill>
          <a:blip r:embed="rId2"/>
          <a:srcRect l="0" r="0" t="0" b="0"/>
          <a:stretch/>
        </p:blipFill>
        <p:spPr>
          <a:xfrm>
            <a:off x="7721600" y="3244850"/>
            <a:ext cx="762000" cy="355600"/>
          </a:xfrm>
          <a:prstGeom prst="rect">
            <a:avLst/>
          </a:prstGeom>
        </p:spPr>
      </p:pic>
      <p:sp>
        <p:nvSpPr>
          <p:cNvPr id="18" name="Text 14"/>
          <p:cNvSpPr/>
          <p:nvPr/>
        </p:nvSpPr>
        <p:spPr>
          <a:xfrm>
            <a:off x="8229600" y="1835150"/>
            <a:ext cx="3251200"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Step 3: Prioritised fix list</a:t>
            </a:r>
            <a:endParaRPr lang="en-US" sz="1500" dirty="0"/>
          </a:p>
        </p:txBody>
      </p:sp>
      <p:sp>
        <p:nvSpPr>
          <p:cNvPr id="19" name="Shape 15"/>
          <p:cNvSpPr/>
          <p:nvPr/>
        </p:nvSpPr>
        <p:spPr>
          <a:xfrm>
            <a:off x="8229600" y="2470150"/>
            <a:ext cx="3251200" cy="3575050"/>
          </a:xfrm>
          <a:prstGeom prst="rect">
            <a:avLst/>
          </a:prstGeom>
          <a:solidFill>
            <a:srgbClr val="DCEBF2"/>
          </a:solidFill>
          <a:ln/>
        </p:spPr>
      </p:sp>
      <p:sp>
        <p:nvSpPr>
          <p:cNvPr id="20" name="Shape 16"/>
          <p:cNvSpPr/>
          <p:nvPr/>
        </p:nvSpPr>
        <p:spPr>
          <a:xfrm>
            <a:off x="8432800" y="2698750"/>
            <a:ext cx="76200" cy="76200"/>
          </a:xfrm>
          <a:prstGeom prst="rect">
            <a:avLst/>
          </a:prstGeom>
          <a:solidFill>
            <a:srgbClr val="F2B33D"/>
          </a:solidFill>
          <a:ln/>
        </p:spPr>
      </p:sp>
      <p:sp>
        <p:nvSpPr>
          <p:cNvPr id="21" name="Text 17"/>
          <p:cNvSpPr/>
          <p:nvPr/>
        </p:nvSpPr>
        <p:spPr>
          <a:xfrm>
            <a:off x="8623300" y="2698750"/>
            <a:ext cx="2733929" cy="3238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A ranked list of what to fix</a:t>
            </a:r>
            <a:endParaRPr lang="en-US" sz="1700" dirty="0"/>
          </a:p>
        </p:txBody>
      </p:sp>
      <p:sp>
        <p:nvSpPr>
          <p:cNvPr id="22" name="Shape 18"/>
          <p:cNvSpPr/>
          <p:nvPr/>
        </p:nvSpPr>
        <p:spPr>
          <a:xfrm>
            <a:off x="8432800" y="3136900"/>
            <a:ext cx="76200" cy="76200"/>
          </a:xfrm>
          <a:prstGeom prst="rect">
            <a:avLst/>
          </a:prstGeom>
          <a:solidFill>
            <a:srgbClr val="F2B33D"/>
          </a:solidFill>
          <a:ln/>
        </p:spPr>
      </p:sp>
      <p:sp>
        <p:nvSpPr>
          <p:cNvPr id="23" name="Text 19"/>
          <p:cNvSpPr/>
          <p:nvPr/>
        </p:nvSpPr>
        <p:spPr>
          <a:xfrm>
            <a:off x="8623300" y="3136900"/>
            <a:ext cx="2733929" cy="3238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Feeds the re-architecture</a:t>
            </a:r>
            <a:endParaRPr lang="en-US" sz="1700" dirty="0"/>
          </a:p>
        </p:txBody>
      </p:sp>
      <p:sp>
        <p:nvSpPr>
          <p:cNvPr id="24" name="Text 20"/>
          <p:cNvSpPr/>
          <p:nvPr/>
        </p:nvSpPr>
        <p:spPr>
          <a:xfrm>
            <a:off x="711200" y="6400800"/>
            <a:ext cx="26162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F6B7A"/>
                </a:solidFill>
                <a:latin typeface="Arial" pitchFamily="34" charset="0"/>
                <a:ea typeface="Arial" pitchFamily="34" charset="-122"/>
                <a:cs typeface="Arial" pitchFamily="34" charset="-120"/>
              </a:rPr>
              <a:t>TA Data and Insights · Q4 2026 update</a:t>
            </a:r>
            <a:endParaRPr lang="en-US" sz="1000" dirty="0"/>
          </a:p>
        </p:txBody>
      </p:sp>
      <p:sp>
        <p:nvSpPr>
          <p:cNvPr id="25" name="Text 21"/>
          <p:cNvSpPr/>
          <p:nvPr/>
        </p:nvSpPr>
        <p:spPr>
          <a:xfrm>
            <a:off x="5508923" y="6400800"/>
            <a:ext cx="1408867" cy="203200"/>
          </a:xfrm>
          <a:prstGeom prst="rect">
            <a:avLst/>
          </a:prstGeom>
          <a:noFill/>
          <a:ln/>
        </p:spPr>
        <p:txBody>
          <a:bodyPr wrap="square" lIns="0" tIns="0" rIns="0" bIns="0" rtlCol="0" anchor="t">
            <a:normAutofit/>
          </a:bodyPr>
          <a:lstStyle/>
          <a:p>
            <a:pPr algn="l" indent="0" marL="0">
              <a:lnSpc>
                <a:spcPts val="1400"/>
              </a:lnSpc>
              <a:buNone/>
            </a:pPr>
            <a:r>
              <a:rPr lang="en-US" sz="1000" b="1" spc="150" kern="0" dirty="0">
                <a:solidFill>
                  <a:srgbClr val="5F6B7A"/>
                </a:solidFill>
                <a:latin typeface="Arial" pitchFamily="34" charset="0"/>
                <a:ea typeface="Arial" pitchFamily="34" charset="-122"/>
                <a:cs typeface="Arial" pitchFamily="34" charset="-120"/>
              </a:rPr>
              <a:t>CONFIDENTIAL</a:t>
            </a:r>
            <a:endParaRPr lang="en-US" sz="1000" dirty="0"/>
          </a:p>
        </p:txBody>
      </p:sp>
      <p:sp>
        <p:nvSpPr>
          <p:cNvPr id="26" name="Text 22"/>
          <p:cNvSpPr/>
          <p:nvPr/>
        </p:nvSpPr>
        <p:spPr>
          <a:xfrm>
            <a:off x="8864501" y="64008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5F6B7A"/>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711200" y="508000"/>
            <a:ext cx="11092688" cy="40005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D2C54"/>
                </a:solidFill>
                <a:latin typeface="Arial" pitchFamily="34" charset="0"/>
                <a:ea typeface="Arial" pitchFamily="34" charset="-122"/>
                <a:cs typeface="Arial" pitchFamily="34" charset="-120"/>
              </a:rPr>
              <a:t>Appendix: fix the foundation, not the dashboards</a:t>
            </a:r>
            <a:endParaRPr lang="en-US" sz="2600" dirty="0"/>
          </a:p>
        </p:txBody>
      </p:sp>
      <p:sp>
        <p:nvSpPr>
          <p:cNvPr id="3" name="Shape 1"/>
          <p:cNvSpPr/>
          <p:nvPr/>
        </p:nvSpPr>
        <p:spPr>
          <a:xfrm>
            <a:off x="711200" y="1060450"/>
            <a:ext cx="4826000" cy="2730500"/>
          </a:xfrm>
          <a:prstGeom prst="rect">
            <a:avLst/>
          </a:prstGeom>
          <a:solidFill>
            <a:srgbClr val="F2F3F5"/>
          </a:solidFill>
          <a:ln/>
        </p:spPr>
      </p:sp>
      <p:sp>
        <p:nvSpPr>
          <p:cNvPr id="4" name="Text 2"/>
          <p:cNvSpPr/>
          <p:nvPr/>
        </p:nvSpPr>
        <p:spPr>
          <a:xfrm>
            <a:off x="711200" y="1060450"/>
            <a:ext cx="4826000" cy="406400"/>
          </a:xfrm>
          <a:prstGeom prst="rect">
            <a:avLst/>
          </a:prstGeom>
          <a:solidFill>
            <a:srgbClr val="D9DCE1"/>
          </a:solidFill>
          <a:ln/>
        </p:spPr>
        <p:txBody>
          <a:bodyPr wrap="square" lIns="0" tIns="0" rIns="0" bIns="0" rtlCol="0" anchor="ctr">
            <a:normAutofit/>
          </a:bodyPr>
          <a:lstStyle/>
          <a:p>
            <a:pPr algn="ctr" indent="0" marL="0">
              <a:lnSpc>
                <a:spcPts val="1960"/>
              </a:lnSpc>
              <a:buNone/>
            </a:pPr>
            <a:r>
              <a:rPr lang="en-US" sz="1400" b="1" dirty="0">
                <a:solidFill>
                  <a:srgbClr val="1F2933"/>
                </a:solidFill>
                <a:latin typeface="Arial" pitchFamily="34" charset="0"/>
                <a:ea typeface="Arial" pitchFamily="34" charset="-122"/>
                <a:cs typeface="Arial" pitchFamily="34" charset="-120"/>
              </a:rPr>
              <a:t>Today</a:t>
            </a:r>
            <a:endParaRPr lang="en-US" sz="1400" dirty="0"/>
          </a:p>
        </p:txBody>
      </p:sp>
      <p:pic>
        <p:nvPicPr>
          <p:cNvPr id="5" name="Image 0" descr="connector">    </p:cNvPr>
          <p:cNvPicPr>
            <a:picLocks noChangeAspect="1"/>
          </p:cNvPicPr>
          <p:nvPr/>
        </p:nvPicPr>
        <p:blipFill>
          <a:blip r:embed="rId1"/>
          <a:srcRect l="0" r="0" t="0" b="0"/>
          <a:stretch/>
        </p:blipFill>
        <p:spPr>
          <a:xfrm>
            <a:off x="1257300" y="2038350"/>
            <a:ext cx="406400" cy="965200"/>
          </a:xfrm>
          <a:prstGeom prst="rect">
            <a:avLst/>
          </a:prstGeom>
        </p:spPr>
      </p:pic>
      <p:pic>
        <p:nvPicPr>
          <p:cNvPr id="6" name="Image 1" descr="connector">    </p:cNvPr>
          <p:cNvPicPr>
            <a:picLocks noChangeAspect="1"/>
          </p:cNvPicPr>
          <p:nvPr/>
        </p:nvPicPr>
        <p:blipFill>
          <a:blip r:embed="rId2"/>
          <a:srcRect l="0" r="0" t="0" b="0"/>
          <a:stretch/>
        </p:blipFill>
        <p:spPr>
          <a:xfrm>
            <a:off x="1587500" y="2038350"/>
            <a:ext cx="1574800" cy="965200"/>
          </a:xfrm>
          <a:prstGeom prst="rect">
            <a:avLst/>
          </a:prstGeom>
        </p:spPr>
      </p:pic>
      <p:pic>
        <p:nvPicPr>
          <p:cNvPr id="7" name="Image 2" descr="connector">    </p:cNvPr>
          <p:cNvPicPr>
            <a:picLocks noChangeAspect="1"/>
          </p:cNvPicPr>
          <p:nvPr/>
        </p:nvPicPr>
        <p:blipFill>
          <a:blip r:embed="rId3"/>
          <a:srcRect l="0" r="0" t="0" b="0"/>
          <a:stretch/>
        </p:blipFill>
        <p:spPr>
          <a:xfrm>
            <a:off x="1587500" y="2038350"/>
            <a:ext cx="3403600" cy="965200"/>
          </a:xfrm>
          <a:prstGeom prst="rect">
            <a:avLst/>
          </a:prstGeom>
        </p:spPr>
      </p:pic>
      <p:pic>
        <p:nvPicPr>
          <p:cNvPr id="8" name="Image 3" descr="connector">    </p:cNvPr>
          <p:cNvPicPr>
            <a:picLocks noChangeAspect="1"/>
          </p:cNvPicPr>
          <p:nvPr/>
        </p:nvPicPr>
        <p:blipFill>
          <a:blip r:embed="rId4"/>
          <a:srcRect l="0" r="0" t="0" b="0"/>
          <a:stretch/>
        </p:blipFill>
        <p:spPr>
          <a:xfrm>
            <a:off x="2171700" y="2038350"/>
            <a:ext cx="1016000" cy="965200"/>
          </a:xfrm>
          <a:prstGeom prst="rect">
            <a:avLst/>
          </a:prstGeom>
        </p:spPr>
      </p:pic>
      <p:pic>
        <p:nvPicPr>
          <p:cNvPr id="9" name="Image 4" descr="connector">    </p:cNvPr>
          <p:cNvPicPr>
            <a:picLocks noChangeAspect="1"/>
          </p:cNvPicPr>
          <p:nvPr/>
        </p:nvPicPr>
        <p:blipFill>
          <a:blip r:embed="rId5"/>
          <a:srcRect l="0" r="0" t="0" b="0"/>
          <a:stretch/>
        </p:blipFill>
        <p:spPr>
          <a:xfrm>
            <a:off x="3111500" y="2038350"/>
            <a:ext cx="965200" cy="965200"/>
          </a:xfrm>
          <a:prstGeom prst="rect">
            <a:avLst/>
          </a:prstGeom>
        </p:spPr>
      </p:pic>
      <p:pic>
        <p:nvPicPr>
          <p:cNvPr id="10" name="Image 5" descr="connector">    </p:cNvPr>
          <p:cNvPicPr>
            <a:picLocks noChangeAspect="1"/>
          </p:cNvPicPr>
          <p:nvPr/>
        </p:nvPicPr>
        <p:blipFill>
          <a:blip r:embed="rId6"/>
          <a:srcRect l="0" r="0" t="0" b="0"/>
          <a:stretch/>
        </p:blipFill>
        <p:spPr>
          <a:xfrm>
            <a:off x="3111500" y="2038350"/>
            <a:ext cx="1879600" cy="965200"/>
          </a:xfrm>
          <a:prstGeom prst="rect">
            <a:avLst/>
          </a:prstGeom>
        </p:spPr>
      </p:pic>
      <p:pic>
        <p:nvPicPr>
          <p:cNvPr id="11" name="Image 6" descr="connector">    </p:cNvPr>
          <p:cNvPicPr>
            <a:picLocks noChangeAspect="1"/>
          </p:cNvPicPr>
          <p:nvPr/>
        </p:nvPicPr>
        <p:blipFill>
          <a:blip r:embed="rId7"/>
          <a:srcRect l="0" r="0" t="0" b="0"/>
          <a:stretch/>
        </p:blipFill>
        <p:spPr>
          <a:xfrm>
            <a:off x="1257300" y="2038350"/>
            <a:ext cx="3454400" cy="965200"/>
          </a:xfrm>
          <a:prstGeom prst="rect">
            <a:avLst/>
          </a:prstGeom>
        </p:spPr>
      </p:pic>
      <p:pic>
        <p:nvPicPr>
          <p:cNvPr id="12" name="Image 7" descr="connector">    </p:cNvPr>
          <p:cNvPicPr>
            <a:picLocks noChangeAspect="1"/>
          </p:cNvPicPr>
          <p:nvPr/>
        </p:nvPicPr>
        <p:blipFill>
          <a:blip r:embed="rId8"/>
          <a:srcRect l="0" r="0" t="0" b="0"/>
          <a:stretch/>
        </p:blipFill>
        <p:spPr>
          <a:xfrm>
            <a:off x="3086100" y="2038350"/>
            <a:ext cx="1625600" cy="965200"/>
          </a:xfrm>
          <a:prstGeom prst="rect">
            <a:avLst/>
          </a:prstGeom>
        </p:spPr>
      </p:pic>
      <p:pic>
        <p:nvPicPr>
          <p:cNvPr id="13" name="Image 8" descr="connector">    </p:cNvPr>
          <p:cNvPicPr>
            <a:picLocks noChangeAspect="1"/>
          </p:cNvPicPr>
          <p:nvPr/>
        </p:nvPicPr>
        <p:blipFill>
          <a:blip r:embed="rId9"/>
          <a:srcRect l="0" r="0" t="0" b="0"/>
          <a:stretch/>
        </p:blipFill>
        <p:spPr>
          <a:xfrm>
            <a:off x="4000500" y="2038350"/>
            <a:ext cx="711200" cy="965200"/>
          </a:xfrm>
          <a:prstGeom prst="rect">
            <a:avLst/>
          </a:prstGeom>
        </p:spPr>
      </p:pic>
      <p:sp>
        <p:nvSpPr>
          <p:cNvPr id="14" name="Shape 3"/>
          <p:cNvSpPr/>
          <p:nvPr/>
        </p:nvSpPr>
        <p:spPr>
          <a:xfrm>
            <a:off x="990600" y="1720850"/>
            <a:ext cx="1270000" cy="355600"/>
          </a:xfrm>
          <a:prstGeom prst="rect">
            <a:avLst/>
          </a:prstGeom>
          <a:solidFill>
            <a:srgbClr val="0D2C54"/>
          </a:solidFill>
          <a:ln/>
        </p:spPr>
      </p:sp>
      <p:sp>
        <p:nvSpPr>
          <p:cNvPr id="15" name="Text 4"/>
          <p:cNvSpPr/>
          <p:nvPr/>
        </p:nvSpPr>
        <p:spPr>
          <a:xfrm>
            <a:off x="1380034" y="1793875"/>
            <a:ext cx="54193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Report</a:t>
            </a:r>
            <a:endParaRPr lang="en-US" sz="1200" dirty="0"/>
          </a:p>
        </p:txBody>
      </p:sp>
      <p:sp>
        <p:nvSpPr>
          <p:cNvPr id="16" name="Shape 5"/>
          <p:cNvSpPr/>
          <p:nvPr/>
        </p:nvSpPr>
        <p:spPr>
          <a:xfrm>
            <a:off x="2514600" y="1720850"/>
            <a:ext cx="1270000" cy="355600"/>
          </a:xfrm>
          <a:prstGeom prst="rect">
            <a:avLst/>
          </a:prstGeom>
          <a:solidFill>
            <a:srgbClr val="0D2C54"/>
          </a:solidFill>
          <a:ln/>
        </p:spPr>
      </p:sp>
      <p:sp>
        <p:nvSpPr>
          <p:cNvPr id="17" name="Text 6"/>
          <p:cNvSpPr/>
          <p:nvPr/>
        </p:nvSpPr>
        <p:spPr>
          <a:xfrm>
            <a:off x="2904034" y="1793875"/>
            <a:ext cx="54193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Report</a:t>
            </a:r>
            <a:endParaRPr lang="en-US" sz="1200" dirty="0"/>
          </a:p>
        </p:txBody>
      </p:sp>
      <p:sp>
        <p:nvSpPr>
          <p:cNvPr id="18" name="Shape 7"/>
          <p:cNvSpPr/>
          <p:nvPr/>
        </p:nvSpPr>
        <p:spPr>
          <a:xfrm>
            <a:off x="4038600" y="1720850"/>
            <a:ext cx="1270000" cy="355600"/>
          </a:xfrm>
          <a:prstGeom prst="rect">
            <a:avLst/>
          </a:prstGeom>
          <a:solidFill>
            <a:srgbClr val="0D2C54"/>
          </a:solidFill>
          <a:ln/>
        </p:spPr>
      </p:sp>
      <p:sp>
        <p:nvSpPr>
          <p:cNvPr id="19" name="Text 8"/>
          <p:cNvSpPr/>
          <p:nvPr/>
        </p:nvSpPr>
        <p:spPr>
          <a:xfrm>
            <a:off x="4428034" y="1793875"/>
            <a:ext cx="54193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Report</a:t>
            </a:r>
            <a:endParaRPr lang="en-US" sz="1200" dirty="0"/>
          </a:p>
        </p:txBody>
      </p:sp>
      <p:sp>
        <p:nvSpPr>
          <p:cNvPr id="20" name="Shape 9"/>
          <p:cNvSpPr/>
          <p:nvPr/>
        </p:nvSpPr>
        <p:spPr>
          <a:xfrm>
            <a:off x="914400" y="2965450"/>
            <a:ext cx="762000" cy="355600"/>
          </a:xfrm>
          <a:prstGeom prst="rect">
            <a:avLst/>
          </a:prstGeom>
          <a:solidFill>
            <a:srgbClr val="D9DCE1"/>
          </a:solidFill>
          <a:ln/>
        </p:spPr>
      </p:sp>
      <p:sp>
        <p:nvSpPr>
          <p:cNvPr id="21" name="Text 10"/>
          <p:cNvSpPr/>
          <p:nvPr/>
        </p:nvSpPr>
        <p:spPr>
          <a:xfrm>
            <a:off x="1113234" y="3038475"/>
            <a:ext cx="41513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2933"/>
                </a:solidFill>
                <a:latin typeface="Arial" pitchFamily="34" charset="0"/>
                <a:ea typeface="Arial" pitchFamily="34" charset="-122"/>
                <a:cs typeface="Arial" pitchFamily="34" charset="-120"/>
              </a:rPr>
              <a:t>Table</a:t>
            </a:r>
            <a:endParaRPr lang="en-US" sz="1200" dirty="0"/>
          </a:p>
        </p:txBody>
      </p:sp>
      <p:sp>
        <p:nvSpPr>
          <p:cNvPr id="22" name="Shape 11"/>
          <p:cNvSpPr/>
          <p:nvPr/>
        </p:nvSpPr>
        <p:spPr>
          <a:xfrm>
            <a:off x="1828800" y="2965450"/>
            <a:ext cx="762000" cy="355600"/>
          </a:xfrm>
          <a:prstGeom prst="rect">
            <a:avLst/>
          </a:prstGeom>
          <a:solidFill>
            <a:srgbClr val="D9DCE1"/>
          </a:solidFill>
          <a:ln/>
        </p:spPr>
      </p:sp>
      <p:sp>
        <p:nvSpPr>
          <p:cNvPr id="23" name="Text 12"/>
          <p:cNvSpPr/>
          <p:nvPr/>
        </p:nvSpPr>
        <p:spPr>
          <a:xfrm>
            <a:off x="2027634" y="3038475"/>
            <a:ext cx="41513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2933"/>
                </a:solidFill>
                <a:latin typeface="Arial" pitchFamily="34" charset="0"/>
                <a:ea typeface="Arial" pitchFamily="34" charset="-122"/>
                <a:cs typeface="Arial" pitchFamily="34" charset="-120"/>
              </a:rPr>
              <a:t>Table</a:t>
            </a:r>
            <a:endParaRPr lang="en-US" sz="1200" dirty="0"/>
          </a:p>
        </p:txBody>
      </p:sp>
      <p:sp>
        <p:nvSpPr>
          <p:cNvPr id="24" name="Shape 13"/>
          <p:cNvSpPr/>
          <p:nvPr/>
        </p:nvSpPr>
        <p:spPr>
          <a:xfrm>
            <a:off x="2743200" y="2965450"/>
            <a:ext cx="762000" cy="355600"/>
          </a:xfrm>
          <a:prstGeom prst="rect">
            <a:avLst/>
          </a:prstGeom>
          <a:solidFill>
            <a:srgbClr val="D9DCE1"/>
          </a:solidFill>
          <a:ln/>
        </p:spPr>
      </p:sp>
      <p:sp>
        <p:nvSpPr>
          <p:cNvPr id="25" name="Text 14"/>
          <p:cNvSpPr/>
          <p:nvPr/>
        </p:nvSpPr>
        <p:spPr>
          <a:xfrm>
            <a:off x="2942034" y="3038475"/>
            <a:ext cx="41513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2933"/>
                </a:solidFill>
                <a:latin typeface="Arial" pitchFamily="34" charset="0"/>
                <a:ea typeface="Arial" pitchFamily="34" charset="-122"/>
                <a:cs typeface="Arial" pitchFamily="34" charset="-120"/>
              </a:rPr>
              <a:t>Table</a:t>
            </a:r>
            <a:endParaRPr lang="en-US" sz="1200" dirty="0"/>
          </a:p>
        </p:txBody>
      </p:sp>
      <p:sp>
        <p:nvSpPr>
          <p:cNvPr id="26" name="Shape 15"/>
          <p:cNvSpPr/>
          <p:nvPr/>
        </p:nvSpPr>
        <p:spPr>
          <a:xfrm>
            <a:off x="3657600" y="2965450"/>
            <a:ext cx="762000" cy="355600"/>
          </a:xfrm>
          <a:prstGeom prst="rect">
            <a:avLst/>
          </a:prstGeom>
          <a:solidFill>
            <a:srgbClr val="D9DCE1"/>
          </a:solidFill>
          <a:ln/>
        </p:spPr>
      </p:sp>
      <p:sp>
        <p:nvSpPr>
          <p:cNvPr id="27" name="Text 16"/>
          <p:cNvSpPr/>
          <p:nvPr/>
        </p:nvSpPr>
        <p:spPr>
          <a:xfrm>
            <a:off x="3856434" y="3038475"/>
            <a:ext cx="41513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2933"/>
                </a:solidFill>
                <a:latin typeface="Arial" pitchFamily="34" charset="0"/>
                <a:ea typeface="Arial" pitchFamily="34" charset="-122"/>
                <a:cs typeface="Arial" pitchFamily="34" charset="-120"/>
              </a:rPr>
              <a:t>Table</a:t>
            </a:r>
            <a:endParaRPr lang="en-US" sz="1200" dirty="0"/>
          </a:p>
        </p:txBody>
      </p:sp>
      <p:sp>
        <p:nvSpPr>
          <p:cNvPr id="28" name="Shape 17"/>
          <p:cNvSpPr/>
          <p:nvPr/>
        </p:nvSpPr>
        <p:spPr>
          <a:xfrm>
            <a:off x="4572000" y="2965450"/>
            <a:ext cx="762000" cy="355600"/>
          </a:xfrm>
          <a:prstGeom prst="rect">
            <a:avLst/>
          </a:prstGeom>
          <a:solidFill>
            <a:srgbClr val="D9DCE1"/>
          </a:solidFill>
          <a:ln/>
        </p:spPr>
      </p:sp>
      <p:sp>
        <p:nvSpPr>
          <p:cNvPr id="29" name="Text 18"/>
          <p:cNvSpPr/>
          <p:nvPr/>
        </p:nvSpPr>
        <p:spPr>
          <a:xfrm>
            <a:off x="4770834" y="3038475"/>
            <a:ext cx="41513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2933"/>
                </a:solidFill>
                <a:latin typeface="Arial" pitchFamily="34" charset="0"/>
                <a:ea typeface="Arial" pitchFamily="34" charset="-122"/>
                <a:cs typeface="Arial" pitchFamily="34" charset="-120"/>
              </a:rPr>
              <a:t>Table</a:t>
            </a:r>
            <a:endParaRPr lang="en-US" sz="1200" dirty="0"/>
          </a:p>
        </p:txBody>
      </p:sp>
      <p:sp>
        <p:nvSpPr>
          <p:cNvPr id="30" name="Text 19"/>
          <p:cNvSpPr/>
          <p:nvPr/>
        </p:nvSpPr>
        <p:spPr>
          <a:xfrm>
            <a:off x="914400" y="3448050"/>
            <a:ext cx="4578350" cy="23495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F6B7A"/>
                </a:solidFill>
                <a:latin typeface="Arial" pitchFamily="34" charset="0"/>
                <a:ea typeface="Arial" pitchFamily="34" charset="-122"/>
                <a:cs typeface="Arial" pitchFamily="34" charset="-120"/>
              </a:rPr>
              <a:t>Each report pulls from its own mix of tables</a:t>
            </a:r>
            <a:endParaRPr lang="en-US" sz="1200" dirty="0"/>
          </a:p>
        </p:txBody>
      </p:sp>
      <p:pic>
        <p:nvPicPr>
          <p:cNvPr id="31" name="Image 9" descr="connector">    </p:cNvPr>
          <p:cNvPicPr>
            <a:picLocks noChangeAspect="1"/>
          </p:cNvPicPr>
          <p:nvPr/>
        </p:nvPicPr>
        <p:blipFill>
          <a:blip r:embed="rId10"/>
          <a:srcRect l="0" r="0" t="0" b="0"/>
          <a:stretch/>
        </p:blipFill>
        <p:spPr>
          <a:xfrm>
            <a:off x="5537200" y="2247900"/>
            <a:ext cx="1371600" cy="355600"/>
          </a:xfrm>
          <a:prstGeom prst="rect">
            <a:avLst/>
          </a:prstGeom>
        </p:spPr>
      </p:pic>
      <p:sp>
        <p:nvSpPr>
          <p:cNvPr id="32" name="Shape 20"/>
          <p:cNvSpPr/>
          <p:nvPr/>
        </p:nvSpPr>
        <p:spPr>
          <a:xfrm>
            <a:off x="6654800" y="1060450"/>
            <a:ext cx="4826000" cy="2730500"/>
          </a:xfrm>
          <a:prstGeom prst="rect">
            <a:avLst/>
          </a:prstGeom>
          <a:solidFill>
            <a:srgbClr val="DCEBF2"/>
          </a:solidFill>
          <a:ln/>
        </p:spPr>
      </p:sp>
      <p:sp>
        <p:nvSpPr>
          <p:cNvPr id="33" name="Text 21"/>
          <p:cNvSpPr/>
          <p:nvPr/>
        </p:nvSpPr>
        <p:spPr>
          <a:xfrm>
            <a:off x="6654800" y="1060450"/>
            <a:ext cx="4826000" cy="406400"/>
          </a:xfrm>
          <a:prstGeom prst="rect">
            <a:avLst/>
          </a:prstGeom>
          <a:solidFill>
            <a:srgbClr val="0D2C54"/>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Where we’re going</a:t>
            </a:r>
            <a:endParaRPr lang="en-US" sz="1400" dirty="0"/>
          </a:p>
        </p:txBody>
      </p:sp>
      <p:pic>
        <p:nvPicPr>
          <p:cNvPr id="34" name="Image 10" descr="connector">    </p:cNvPr>
          <p:cNvPicPr>
            <a:picLocks noChangeAspect="1"/>
          </p:cNvPicPr>
          <p:nvPr/>
        </p:nvPicPr>
        <p:blipFill>
          <a:blip r:embed="rId11"/>
          <a:srcRect l="0" r="0" t="0" b="0"/>
          <a:stretch/>
        </p:blipFill>
        <p:spPr>
          <a:xfrm>
            <a:off x="7531100" y="2038350"/>
            <a:ext cx="76200" cy="304800"/>
          </a:xfrm>
          <a:prstGeom prst="rect">
            <a:avLst/>
          </a:prstGeom>
        </p:spPr>
      </p:pic>
      <p:pic>
        <p:nvPicPr>
          <p:cNvPr id="35" name="Image 11" descr="connector">    </p:cNvPr>
          <p:cNvPicPr>
            <a:picLocks noChangeAspect="1"/>
          </p:cNvPicPr>
          <p:nvPr/>
        </p:nvPicPr>
        <p:blipFill>
          <a:blip r:embed="rId12"/>
          <a:srcRect l="0" r="0" t="0" b="0"/>
          <a:stretch/>
        </p:blipFill>
        <p:spPr>
          <a:xfrm>
            <a:off x="9055100" y="2038350"/>
            <a:ext cx="76200" cy="304800"/>
          </a:xfrm>
          <a:prstGeom prst="rect">
            <a:avLst/>
          </a:prstGeom>
        </p:spPr>
      </p:pic>
      <p:pic>
        <p:nvPicPr>
          <p:cNvPr id="36" name="Image 12" descr="connector">    </p:cNvPr>
          <p:cNvPicPr>
            <a:picLocks noChangeAspect="1"/>
          </p:cNvPicPr>
          <p:nvPr/>
        </p:nvPicPr>
        <p:blipFill>
          <a:blip r:embed="rId13"/>
          <a:srcRect l="0" r="0" t="0" b="0"/>
          <a:stretch/>
        </p:blipFill>
        <p:spPr>
          <a:xfrm>
            <a:off x="10579100" y="2038350"/>
            <a:ext cx="76200" cy="304800"/>
          </a:xfrm>
          <a:prstGeom prst="rect">
            <a:avLst/>
          </a:prstGeom>
        </p:spPr>
      </p:pic>
      <p:sp>
        <p:nvSpPr>
          <p:cNvPr id="37" name="Shape 22"/>
          <p:cNvSpPr/>
          <p:nvPr/>
        </p:nvSpPr>
        <p:spPr>
          <a:xfrm>
            <a:off x="6934200" y="1720850"/>
            <a:ext cx="1270000" cy="355600"/>
          </a:xfrm>
          <a:prstGeom prst="rect">
            <a:avLst/>
          </a:prstGeom>
          <a:solidFill>
            <a:srgbClr val="0D2C54"/>
          </a:solidFill>
          <a:ln/>
        </p:spPr>
      </p:sp>
      <p:sp>
        <p:nvSpPr>
          <p:cNvPr id="38" name="Text 23"/>
          <p:cNvSpPr/>
          <p:nvPr/>
        </p:nvSpPr>
        <p:spPr>
          <a:xfrm>
            <a:off x="7323634" y="1793875"/>
            <a:ext cx="54193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Report</a:t>
            </a:r>
            <a:endParaRPr lang="en-US" sz="1200" dirty="0"/>
          </a:p>
        </p:txBody>
      </p:sp>
      <p:sp>
        <p:nvSpPr>
          <p:cNvPr id="39" name="Shape 24"/>
          <p:cNvSpPr/>
          <p:nvPr/>
        </p:nvSpPr>
        <p:spPr>
          <a:xfrm>
            <a:off x="8458200" y="1720850"/>
            <a:ext cx="1270000" cy="355600"/>
          </a:xfrm>
          <a:prstGeom prst="rect">
            <a:avLst/>
          </a:prstGeom>
          <a:solidFill>
            <a:srgbClr val="0D2C54"/>
          </a:solidFill>
          <a:ln/>
        </p:spPr>
      </p:sp>
      <p:sp>
        <p:nvSpPr>
          <p:cNvPr id="40" name="Text 25"/>
          <p:cNvSpPr/>
          <p:nvPr/>
        </p:nvSpPr>
        <p:spPr>
          <a:xfrm>
            <a:off x="8847634" y="1793875"/>
            <a:ext cx="54193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Report</a:t>
            </a:r>
            <a:endParaRPr lang="en-US" sz="1200" dirty="0"/>
          </a:p>
        </p:txBody>
      </p:sp>
      <p:sp>
        <p:nvSpPr>
          <p:cNvPr id="41" name="Shape 26"/>
          <p:cNvSpPr/>
          <p:nvPr/>
        </p:nvSpPr>
        <p:spPr>
          <a:xfrm>
            <a:off x="9982200" y="1720850"/>
            <a:ext cx="1270000" cy="355600"/>
          </a:xfrm>
          <a:prstGeom prst="rect">
            <a:avLst/>
          </a:prstGeom>
          <a:solidFill>
            <a:srgbClr val="0D2C54"/>
          </a:solidFill>
          <a:ln/>
        </p:spPr>
      </p:sp>
      <p:sp>
        <p:nvSpPr>
          <p:cNvPr id="42" name="Text 27"/>
          <p:cNvSpPr/>
          <p:nvPr/>
        </p:nvSpPr>
        <p:spPr>
          <a:xfrm>
            <a:off x="10371634" y="1793875"/>
            <a:ext cx="54193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Report</a:t>
            </a:r>
            <a:endParaRPr lang="en-US" sz="1200" dirty="0"/>
          </a:p>
        </p:txBody>
      </p:sp>
      <p:sp>
        <p:nvSpPr>
          <p:cNvPr id="43" name="Text 28"/>
          <p:cNvSpPr/>
          <p:nvPr/>
        </p:nvSpPr>
        <p:spPr>
          <a:xfrm>
            <a:off x="6934200" y="2305050"/>
            <a:ext cx="4318000" cy="355600"/>
          </a:xfrm>
          <a:prstGeom prst="rect">
            <a:avLst/>
          </a:prstGeom>
          <a:solidFill>
            <a:srgbClr val="F2B33D"/>
          </a:solidFill>
          <a:ln/>
        </p:spPr>
        <p:txBody>
          <a:bodyPr wrap="square" lIns="0" tIns="0" rIns="0" bIns="0" rtlCol="0" anchor="ctr">
            <a:normAutofit/>
          </a:bodyPr>
          <a:lstStyle/>
          <a:p>
            <a:pPr algn="ctr" indent="0" marL="0">
              <a:lnSpc>
                <a:spcPts val="1820"/>
              </a:lnSpc>
              <a:buNone/>
            </a:pPr>
            <a:r>
              <a:rPr lang="en-US" sz="1300" b="1" dirty="0">
                <a:solidFill>
                  <a:srgbClr val="0D2C54"/>
                </a:solidFill>
                <a:latin typeface="Arial" pitchFamily="34" charset="0"/>
                <a:ea typeface="Arial" pitchFamily="34" charset="-122"/>
                <a:cs typeface="Arial" pitchFamily="34" charset="-120"/>
              </a:rPr>
              <a:t>Agreed metric definitions</a:t>
            </a:r>
            <a:endParaRPr lang="en-US" sz="1300" dirty="0"/>
          </a:p>
        </p:txBody>
      </p:sp>
      <p:sp>
        <p:nvSpPr>
          <p:cNvPr id="44" name="Text 29"/>
          <p:cNvSpPr/>
          <p:nvPr/>
        </p:nvSpPr>
        <p:spPr>
          <a:xfrm>
            <a:off x="6934200" y="2736850"/>
            <a:ext cx="4318000" cy="355600"/>
          </a:xfrm>
          <a:prstGeom prst="rect">
            <a:avLst/>
          </a:prstGeom>
          <a:solidFill>
            <a:srgbClr val="1F4E79"/>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Shared tables</a:t>
            </a:r>
            <a:endParaRPr lang="en-US" sz="1300" dirty="0"/>
          </a:p>
        </p:txBody>
      </p:sp>
      <p:sp>
        <p:nvSpPr>
          <p:cNvPr id="45" name="Text 30"/>
          <p:cNvSpPr/>
          <p:nvPr/>
        </p:nvSpPr>
        <p:spPr>
          <a:xfrm>
            <a:off x="6934200" y="3168650"/>
            <a:ext cx="4318000" cy="355600"/>
          </a:xfrm>
          <a:prstGeom prst="rect">
            <a:avLst/>
          </a:prstGeom>
          <a:solidFill>
            <a:srgbClr val="0D2C54"/>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Source data</a:t>
            </a:r>
            <a:endParaRPr lang="en-US" sz="1300" dirty="0"/>
          </a:p>
        </p:txBody>
      </p:sp>
      <p:sp>
        <p:nvSpPr>
          <p:cNvPr id="46" name="Shape 31"/>
          <p:cNvSpPr/>
          <p:nvPr/>
        </p:nvSpPr>
        <p:spPr>
          <a:xfrm>
            <a:off x="711200" y="3968750"/>
            <a:ext cx="5295900" cy="850900"/>
          </a:xfrm>
          <a:prstGeom prst="rect">
            <a:avLst/>
          </a:prstGeom>
          <a:solidFill>
            <a:srgbClr val="F4EFE6"/>
          </a:solidFill>
          <a:ln/>
        </p:spPr>
      </p:sp>
      <p:sp>
        <p:nvSpPr>
          <p:cNvPr id="47" name="Shape 32"/>
          <p:cNvSpPr/>
          <p:nvPr/>
        </p:nvSpPr>
        <p:spPr>
          <a:xfrm>
            <a:off x="889000" y="4121150"/>
            <a:ext cx="76200" cy="76200"/>
          </a:xfrm>
          <a:prstGeom prst="rect">
            <a:avLst/>
          </a:prstGeom>
          <a:solidFill>
            <a:srgbClr val="F2B33D"/>
          </a:solidFill>
          <a:ln/>
        </p:spPr>
      </p:sp>
      <p:sp>
        <p:nvSpPr>
          <p:cNvPr id="48" name="Text 33"/>
          <p:cNvSpPr/>
          <p:nvPr/>
        </p:nvSpPr>
        <p:spPr>
          <a:xfrm>
            <a:off x="1079500" y="4121150"/>
            <a:ext cx="4892294"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Build a small set of shared tables every report reads from</a:t>
            </a:r>
            <a:endParaRPr lang="en-US" sz="1300" dirty="0"/>
          </a:p>
        </p:txBody>
      </p:sp>
      <p:sp>
        <p:nvSpPr>
          <p:cNvPr id="49" name="Shape 34"/>
          <p:cNvSpPr/>
          <p:nvPr/>
        </p:nvSpPr>
        <p:spPr>
          <a:xfrm>
            <a:off x="889000" y="4438650"/>
            <a:ext cx="76200" cy="76200"/>
          </a:xfrm>
          <a:prstGeom prst="rect">
            <a:avLst/>
          </a:prstGeom>
          <a:solidFill>
            <a:srgbClr val="F2B33D"/>
          </a:solidFill>
          <a:ln/>
        </p:spPr>
      </p:sp>
      <p:sp>
        <p:nvSpPr>
          <p:cNvPr id="50" name="Text 35"/>
          <p:cNvSpPr/>
          <p:nvPr/>
        </p:nvSpPr>
        <p:spPr>
          <a:xfrm>
            <a:off x="1079500" y="4438650"/>
            <a:ext cx="4892294"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Move business rules out of dashboards and into those tables</a:t>
            </a:r>
            <a:endParaRPr lang="en-US" sz="1300" dirty="0"/>
          </a:p>
        </p:txBody>
      </p:sp>
      <p:sp>
        <p:nvSpPr>
          <p:cNvPr id="51" name="Shape 36"/>
          <p:cNvSpPr/>
          <p:nvPr/>
        </p:nvSpPr>
        <p:spPr>
          <a:xfrm>
            <a:off x="6184900" y="3968750"/>
            <a:ext cx="5295900" cy="850900"/>
          </a:xfrm>
          <a:prstGeom prst="rect">
            <a:avLst/>
          </a:prstGeom>
          <a:solidFill>
            <a:srgbClr val="F4EFE6"/>
          </a:solidFill>
          <a:ln/>
        </p:spPr>
      </p:sp>
      <p:sp>
        <p:nvSpPr>
          <p:cNvPr id="52" name="Shape 37"/>
          <p:cNvSpPr/>
          <p:nvPr/>
        </p:nvSpPr>
        <p:spPr>
          <a:xfrm>
            <a:off x="6362700" y="4121150"/>
            <a:ext cx="76200" cy="76200"/>
          </a:xfrm>
          <a:prstGeom prst="rect">
            <a:avLst/>
          </a:prstGeom>
          <a:solidFill>
            <a:srgbClr val="F2B33D"/>
          </a:solidFill>
          <a:ln/>
        </p:spPr>
      </p:sp>
      <p:sp>
        <p:nvSpPr>
          <p:cNvPr id="53" name="Text 38"/>
          <p:cNvSpPr/>
          <p:nvPr/>
        </p:nvSpPr>
        <p:spPr>
          <a:xfrm>
            <a:off x="6553200" y="4121150"/>
            <a:ext cx="4892294"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Define each metric once, where everyone can find it</a:t>
            </a:r>
            <a:endParaRPr lang="en-US" sz="1300" dirty="0"/>
          </a:p>
        </p:txBody>
      </p:sp>
      <p:sp>
        <p:nvSpPr>
          <p:cNvPr id="54" name="Shape 39"/>
          <p:cNvSpPr/>
          <p:nvPr/>
        </p:nvSpPr>
        <p:spPr>
          <a:xfrm>
            <a:off x="6362700" y="4438650"/>
            <a:ext cx="76200" cy="76200"/>
          </a:xfrm>
          <a:prstGeom prst="rect">
            <a:avLst/>
          </a:prstGeom>
          <a:solidFill>
            <a:srgbClr val="F2B33D"/>
          </a:solidFill>
          <a:ln/>
        </p:spPr>
      </p:sp>
      <p:sp>
        <p:nvSpPr>
          <p:cNvPr id="55" name="Text 40"/>
          <p:cNvSpPr/>
          <p:nvPr/>
        </p:nvSpPr>
        <p:spPr>
          <a:xfrm>
            <a:off x="6553200" y="4438650"/>
            <a:ext cx="4892294"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3"/>
                </a:solidFill>
                <a:latin typeface="Arial" pitchFamily="34" charset="0"/>
                <a:ea typeface="Arial" pitchFamily="34" charset="-122"/>
                <a:cs typeface="Arial" pitchFamily="34" charset="-120"/>
              </a:rPr>
              <a:t>Move products over one at a time</a:t>
            </a:r>
            <a:endParaRPr lang="en-US" sz="1300" dirty="0"/>
          </a:p>
        </p:txBody>
      </p:sp>
      <p:sp>
        <p:nvSpPr>
          <p:cNvPr id="56" name="Text 41"/>
          <p:cNvSpPr/>
          <p:nvPr/>
        </p:nvSpPr>
        <p:spPr>
          <a:xfrm>
            <a:off x="711200" y="6400800"/>
            <a:ext cx="26162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F6B7A"/>
                </a:solidFill>
                <a:latin typeface="Arial" pitchFamily="34" charset="0"/>
                <a:ea typeface="Arial" pitchFamily="34" charset="-122"/>
                <a:cs typeface="Arial" pitchFamily="34" charset="-120"/>
              </a:rPr>
              <a:t>TA Data and Insights · Q4 2026 update</a:t>
            </a:r>
            <a:endParaRPr lang="en-US" sz="1000" dirty="0"/>
          </a:p>
        </p:txBody>
      </p:sp>
      <p:sp>
        <p:nvSpPr>
          <p:cNvPr id="57" name="Text 42"/>
          <p:cNvSpPr/>
          <p:nvPr/>
        </p:nvSpPr>
        <p:spPr>
          <a:xfrm>
            <a:off x="5508923" y="6400800"/>
            <a:ext cx="1408867" cy="203200"/>
          </a:xfrm>
          <a:prstGeom prst="rect">
            <a:avLst/>
          </a:prstGeom>
          <a:noFill/>
          <a:ln/>
        </p:spPr>
        <p:txBody>
          <a:bodyPr wrap="square" lIns="0" tIns="0" rIns="0" bIns="0" rtlCol="0" anchor="t">
            <a:normAutofit/>
          </a:bodyPr>
          <a:lstStyle/>
          <a:p>
            <a:pPr algn="l" indent="0" marL="0">
              <a:lnSpc>
                <a:spcPts val="1400"/>
              </a:lnSpc>
              <a:buNone/>
            </a:pPr>
            <a:r>
              <a:rPr lang="en-US" sz="1000" b="1" spc="150" kern="0" dirty="0">
                <a:solidFill>
                  <a:srgbClr val="5F6B7A"/>
                </a:solidFill>
                <a:latin typeface="Arial" pitchFamily="34" charset="0"/>
                <a:ea typeface="Arial" pitchFamily="34" charset="-122"/>
                <a:cs typeface="Arial" pitchFamily="34" charset="-120"/>
              </a:rPr>
              <a:t>CONFIDENTIAL</a:t>
            </a:r>
            <a:endParaRPr lang="en-US" sz="1000" dirty="0"/>
          </a:p>
        </p:txBody>
      </p:sp>
      <p:sp>
        <p:nvSpPr>
          <p:cNvPr id="58" name="Text 43"/>
          <p:cNvSpPr/>
          <p:nvPr/>
        </p:nvSpPr>
        <p:spPr>
          <a:xfrm>
            <a:off x="8864501" y="64008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5F6B7A"/>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711200" y="508000"/>
            <a:ext cx="11092688" cy="40005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D2C54"/>
                </a:solidFill>
                <a:latin typeface="Arial" pitchFamily="34" charset="0"/>
                <a:ea typeface="Arial" pitchFamily="34" charset="-122"/>
                <a:cs typeface="Arial" pitchFamily="34" charset="-120"/>
              </a:rPr>
              <a:t>Appendix: what the team has delivered</a:t>
            </a:r>
            <a:endParaRPr lang="en-US" sz="2600" dirty="0"/>
          </a:p>
        </p:txBody>
      </p:sp>
      <p:sp>
        <p:nvSpPr>
          <p:cNvPr id="3" name="Text 1"/>
          <p:cNvSpPr/>
          <p:nvPr/>
        </p:nvSpPr>
        <p:spPr>
          <a:xfrm>
            <a:off x="711200" y="1085850"/>
            <a:ext cx="3471366"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TA Scorecard</a:t>
            </a:r>
            <a:endParaRPr lang="en-US" sz="1500" dirty="0"/>
          </a:p>
        </p:txBody>
      </p:sp>
      <p:sp>
        <p:nvSpPr>
          <p:cNvPr id="4" name="Shape 2"/>
          <p:cNvSpPr/>
          <p:nvPr/>
        </p:nvSpPr>
        <p:spPr>
          <a:xfrm>
            <a:off x="711200" y="1720850"/>
            <a:ext cx="3471366" cy="3841750"/>
          </a:xfrm>
          <a:prstGeom prst="rect">
            <a:avLst/>
          </a:prstGeom>
          <a:solidFill>
            <a:srgbClr val="DCEBF2"/>
          </a:solidFill>
          <a:ln/>
        </p:spPr>
      </p:sp>
      <p:sp>
        <p:nvSpPr>
          <p:cNvPr id="5" name="Shape 3"/>
          <p:cNvSpPr/>
          <p:nvPr/>
        </p:nvSpPr>
        <p:spPr>
          <a:xfrm>
            <a:off x="914400" y="1949450"/>
            <a:ext cx="76200" cy="76200"/>
          </a:xfrm>
          <a:prstGeom prst="rect">
            <a:avLst/>
          </a:prstGeom>
          <a:solidFill>
            <a:srgbClr val="F2B33D"/>
          </a:solidFill>
          <a:ln/>
        </p:spPr>
      </p:sp>
      <p:sp>
        <p:nvSpPr>
          <p:cNvPr id="6" name="Text 4"/>
          <p:cNvSpPr/>
          <p:nvPr/>
        </p:nvSpPr>
        <p:spPr>
          <a:xfrm>
            <a:off x="1104900" y="19494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Automated the scorecard build</a:t>
            </a:r>
            <a:endParaRPr lang="en-US" sz="1700" dirty="0"/>
          </a:p>
        </p:txBody>
      </p:sp>
      <p:sp>
        <p:nvSpPr>
          <p:cNvPr id="7" name="Shape 5"/>
          <p:cNvSpPr/>
          <p:nvPr/>
        </p:nvSpPr>
        <p:spPr>
          <a:xfrm>
            <a:off x="914400" y="2686050"/>
            <a:ext cx="76200" cy="76200"/>
          </a:xfrm>
          <a:prstGeom prst="rect">
            <a:avLst/>
          </a:prstGeom>
          <a:solidFill>
            <a:srgbClr val="F2B33D"/>
          </a:solidFill>
          <a:ln/>
        </p:spPr>
      </p:sp>
      <p:sp>
        <p:nvSpPr>
          <p:cNvPr id="8" name="Text 6"/>
          <p:cNvSpPr/>
          <p:nvPr/>
        </p:nvSpPr>
        <p:spPr>
          <a:xfrm>
            <a:off x="1104900" y="26860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Next: the last manual step and the move to production</a:t>
            </a:r>
            <a:endParaRPr lang="en-US" sz="1700" dirty="0"/>
          </a:p>
        </p:txBody>
      </p:sp>
      <p:sp>
        <p:nvSpPr>
          <p:cNvPr id="9" name="Text 7"/>
          <p:cNvSpPr/>
          <p:nvPr/>
        </p:nvSpPr>
        <p:spPr>
          <a:xfrm>
            <a:off x="711200" y="5562600"/>
            <a:ext cx="3471366" cy="482600"/>
          </a:xfrm>
          <a:prstGeom prst="rect">
            <a:avLst/>
          </a:prstGeom>
          <a:solidFill>
            <a:srgbClr val="F4EFE6"/>
          </a:solidFill>
          <a:ln/>
        </p:spPr>
        <p:txBody>
          <a:bodyPr wrap="square" lIns="203200" tIns="127000" rIns="111251" bIns="101600" rtlCol="0" anchor="t">
            <a:normAutofit/>
          </a:bodyPr>
          <a:lstStyle/>
          <a:p>
            <a:pPr algn="l" indent="0" marL="0">
              <a:lnSpc>
                <a:spcPts val="1820"/>
              </a:lnSpc>
              <a:buNone/>
            </a:pPr>
            <a:r>
              <a:rPr lang="en-US" sz="1300" b="1" dirty="0">
                <a:solidFill>
                  <a:srgbClr val="0D2C54"/>
                </a:solidFill>
                <a:latin typeface="Arial" pitchFamily="34" charset="0"/>
                <a:ea typeface="Arial" pitchFamily="34" charset="-122"/>
                <a:cs typeface="Arial" pitchFamily="34" charset="-120"/>
              </a:rPr>
              <a:t>[Analyst name]</a:t>
            </a:r>
            <a:endParaRPr lang="en-US" sz="1300" dirty="0"/>
          </a:p>
        </p:txBody>
      </p:sp>
      <p:sp>
        <p:nvSpPr>
          <p:cNvPr id="10" name="Text 8"/>
          <p:cNvSpPr/>
          <p:nvPr/>
        </p:nvSpPr>
        <p:spPr>
          <a:xfrm>
            <a:off x="4360366" y="1085850"/>
            <a:ext cx="3471366"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Fasttrack Dashboard</a:t>
            </a:r>
            <a:endParaRPr lang="en-US" sz="1500" dirty="0"/>
          </a:p>
        </p:txBody>
      </p:sp>
      <p:sp>
        <p:nvSpPr>
          <p:cNvPr id="11" name="Shape 9"/>
          <p:cNvSpPr/>
          <p:nvPr/>
        </p:nvSpPr>
        <p:spPr>
          <a:xfrm>
            <a:off x="4360366" y="1720850"/>
            <a:ext cx="3471366" cy="3841750"/>
          </a:xfrm>
          <a:prstGeom prst="rect">
            <a:avLst/>
          </a:prstGeom>
          <a:solidFill>
            <a:srgbClr val="DCEBF2"/>
          </a:solidFill>
          <a:ln/>
        </p:spPr>
      </p:sp>
      <p:sp>
        <p:nvSpPr>
          <p:cNvPr id="12" name="Shape 10"/>
          <p:cNvSpPr/>
          <p:nvPr/>
        </p:nvSpPr>
        <p:spPr>
          <a:xfrm>
            <a:off x="4563566" y="1949450"/>
            <a:ext cx="76200" cy="76200"/>
          </a:xfrm>
          <a:prstGeom prst="rect">
            <a:avLst/>
          </a:prstGeom>
          <a:solidFill>
            <a:srgbClr val="F2B33D"/>
          </a:solidFill>
          <a:ln/>
        </p:spPr>
      </p:sp>
      <p:sp>
        <p:nvSpPr>
          <p:cNvPr id="13" name="Text 11"/>
          <p:cNvSpPr/>
          <p:nvPr/>
        </p:nvSpPr>
        <p:spPr>
          <a:xfrm>
            <a:off x="4754066" y="1949450"/>
            <a:ext cx="2960700" cy="6223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Delivered the core insights in a form people use</a:t>
            </a:r>
            <a:endParaRPr lang="en-US" sz="1700" dirty="0"/>
          </a:p>
        </p:txBody>
      </p:sp>
      <p:sp>
        <p:nvSpPr>
          <p:cNvPr id="14" name="Text 12"/>
          <p:cNvSpPr/>
          <p:nvPr/>
        </p:nvSpPr>
        <p:spPr>
          <a:xfrm>
            <a:off x="4360366" y="5562600"/>
            <a:ext cx="3471366" cy="482600"/>
          </a:xfrm>
          <a:prstGeom prst="rect">
            <a:avLst/>
          </a:prstGeom>
          <a:solidFill>
            <a:srgbClr val="F4EFE6"/>
          </a:solidFill>
          <a:ln/>
        </p:spPr>
        <p:txBody>
          <a:bodyPr wrap="square" lIns="203200" tIns="127000" rIns="111251" bIns="101600" rtlCol="0" anchor="t">
            <a:normAutofit/>
          </a:bodyPr>
          <a:lstStyle/>
          <a:p>
            <a:pPr algn="l" indent="0" marL="0">
              <a:lnSpc>
                <a:spcPts val="1820"/>
              </a:lnSpc>
              <a:buNone/>
            </a:pPr>
            <a:r>
              <a:rPr lang="en-US" sz="1300" b="1" dirty="0">
                <a:solidFill>
                  <a:srgbClr val="0D2C54"/>
                </a:solidFill>
                <a:latin typeface="Arial" pitchFamily="34" charset="0"/>
                <a:ea typeface="Arial" pitchFamily="34" charset="-122"/>
                <a:cs typeface="Arial" pitchFamily="34" charset="-120"/>
              </a:rPr>
              <a:t>[Analyst name]</a:t>
            </a:r>
            <a:endParaRPr lang="en-US" sz="1300" dirty="0"/>
          </a:p>
        </p:txBody>
      </p:sp>
      <p:sp>
        <p:nvSpPr>
          <p:cNvPr id="15" name="Text 13"/>
          <p:cNvSpPr/>
          <p:nvPr/>
        </p:nvSpPr>
        <p:spPr>
          <a:xfrm>
            <a:off x="8009533" y="1085850"/>
            <a:ext cx="3471366" cy="635000"/>
          </a:xfrm>
          <a:prstGeom prst="rect">
            <a:avLst/>
          </a:prstGeom>
          <a:solidFill>
            <a:srgbClr val="0D2C54"/>
          </a:solidFill>
          <a:ln/>
        </p:spPr>
        <p:txBody>
          <a:bodyPr wrap="square" lIns="152400" tIns="0" rIns="152400" bIns="0" rtlCol="0" anchor="ctr">
            <a:normAutofit/>
          </a:bodyP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CDX Product Manager hiring</a:t>
            </a:r>
            <a:endParaRPr lang="en-US" sz="1500" dirty="0"/>
          </a:p>
        </p:txBody>
      </p:sp>
      <p:sp>
        <p:nvSpPr>
          <p:cNvPr id="16" name="Shape 14"/>
          <p:cNvSpPr/>
          <p:nvPr/>
        </p:nvSpPr>
        <p:spPr>
          <a:xfrm>
            <a:off x="8009533" y="1720850"/>
            <a:ext cx="3471366" cy="3841750"/>
          </a:xfrm>
          <a:prstGeom prst="rect">
            <a:avLst/>
          </a:prstGeom>
          <a:solidFill>
            <a:srgbClr val="DCEBF2"/>
          </a:solidFill>
          <a:ln/>
        </p:spPr>
      </p:sp>
      <p:sp>
        <p:nvSpPr>
          <p:cNvPr id="17" name="Shape 15"/>
          <p:cNvSpPr/>
          <p:nvPr/>
        </p:nvSpPr>
        <p:spPr>
          <a:xfrm>
            <a:off x="8212733" y="1949450"/>
            <a:ext cx="76200" cy="76200"/>
          </a:xfrm>
          <a:prstGeom prst="rect">
            <a:avLst/>
          </a:prstGeom>
          <a:solidFill>
            <a:srgbClr val="F2B33D"/>
          </a:solidFill>
          <a:ln/>
        </p:spPr>
      </p:sp>
      <p:sp>
        <p:nvSpPr>
          <p:cNvPr id="18" name="Text 16"/>
          <p:cNvSpPr/>
          <p:nvPr/>
        </p:nvSpPr>
        <p:spPr>
          <a:xfrm>
            <a:off x="8403233" y="1949450"/>
            <a:ext cx="2960700" cy="92075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933"/>
                </a:solidFill>
                <a:latin typeface="Arial" pitchFamily="34" charset="0"/>
                <a:ea typeface="Arial" pitchFamily="34" charset="-122"/>
                <a:cs typeface="Arial" pitchFamily="34" charset="-120"/>
              </a:rPr>
              <a:t>Provided the data and analysis behind the hiring process</a:t>
            </a:r>
            <a:endParaRPr lang="en-US" sz="1700" dirty="0"/>
          </a:p>
        </p:txBody>
      </p:sp>
      <p:sp>
        <p:nvSpPr>
          <p:cNvPr id="19" name="Text 17"/>
          <p:cNvSpPr/>
          <p:nvPr/>
        </p:nvSpPr>
        <p:spPr>
          <a:xfrm>
            <a:off x="8009533" y="5562600"/>
            <a:ext cx="3471366" cy="482600"/>
          </a:xfrm>
          <a:prstGeom prst="rect">
            <a:avLst/>
          </a:prstGeom>
          <a:solidFill>
            <a:srgbClr val="F4EFE6"/>
          </a:solidFill>
          <a:ln/>
        </p:spPr>
        <p:txBody>
          <a:bodyPr wrap="square" lIns="203200" tIns="127000" rIns="111251" bIns="101600" rtlCol="0" anchor="t">
            <a:normAutofit/>
          </a:bodyPr>
          <a:lstStyle/>
          <a:p>
            <a:pPr algn="l" indent="0" marL="0">
              <a:lnSpc>
                <a:spcPts val="1820"/>
              </a:lnSpc>
              <a:buNone/>
            </a:pPr>
            <a:r>
              <a:rPr lang="en-US" sz="1300" b="1" dirty="0">
                <a:solidFill>
                  <a:srgbClr val="0D2C54"/>
                </a:solidFill>
                <a:latin typeface="Arial" pitchFamily="34" charset="0"/>
                <a:ea typeface="Arial" pitchFamily="34" charset="-122"/>
                <a:cs typeface="Arial" pitchFamily="34" charset="-120"/>
              </a:rPr>
              <a:t>[Analyst name]</a:t>
            </a:r>
            <a:endParaRPr lang="en-US" sz="1300" dirty="0"/>
          </a:p>
        </p:txBody>
      </p:sp>
      <p:sp>
        <p:nvSpPr>
          <p:cNvPr id="20" name="Text 18"/>
          <p:cNvSpPr/>
          <p:nvPr/>
        </p:nvSpPr>
        <p:spPr>
          <a:xfrm>
            <a:off x="711200" y="6400800"/>
            <a:ext cx="26162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F6B7A"/>
                </a:solidFill>
                <a:latin typeface="Arial" pitchFamily="34" charset="0"/>
                <a:ea typeface="Arial" pitchFamily="34" charset="-122"/>
                <a:cs typeface="Arial" pitchFamily="34" charset="-120"/>
              </a:rPr>
              <a:t>TA Data and Insights · Q4 2026 update</a:t>
            </a:r>
            <a:endParaRPr lang="en-US" sz="1000" dirty="0"/>
          </a:p>
        </p:txBody>
      </p:sp>
      <p:sp>
        <p:nvSpPr>
          <p:cNvPr id="21" name="Text 19"/>
          <p:cNvSpPr/>
          <p:nvPr/>
        </p:nvSpPr>
        <p:spPr>
          <a:xfrm>
            <a:off x="5508923" y="6400800"/>
            <a:ext cx="1408867" cy="203200"/>
          </a:xfrm>
          <a:prstGeom prst="rect">
            <a:avLst/>
          </a:prstGeom>
          <a:noFill/>
          <a:ln/>
        </p:spPr>
        <p:txBody>
          <a:bodyPr wrap="square" lIns="0" tIns="0" rIns="0" bIns="0" rtlCol="0" anchor="t">
            <a:normAutofit/>
          </a:bodyPr>
          <a:lstStyle/>
          <a:p>
            <a:pPr algn="l" indent="0" marL="0">
              <a:lnSpc>
                <a:spcPts val="1400"/>
              </a:lnSpc>
              <a:buNone/>
            </a:pPr>
            <a:r>
              <a:rPr lang="en-US" sz="1000" b="1" spc="150" kern="0" dirty="0">
                <a:solidFill>
                  <a:srgbClr val="5F6B7A"/>
                </a:solidFill>
                <a:latin typeface="Arial" pitchFamily="34" charset="0"/>
                <a:ea typeface="Arial" pitchFamily="34" charset="-122"/>
                <a:cs typeface="Arial" pitchFamily="34" charset="-120"/>
              </a:rPr>
              <a:t>CONFIDENTIAL</a:t>
            </a:r>
            <a:endParaRPr lang="en-US" sz="1000" dirty="0"/>
          </a:p>
        </p:txBody>
      </p:sp>
      <p:sp>
        <p:nvSpPr>
          <p:cNvPr id="22" name="Text 20"/>
          <p:cNvSpPr/>
          <p:nvPr/>
        </p:nvSpPr>
        <p:spPr>
          <a:xfrm>
            <a:off x="8864501" y="64008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5F6B7A"/>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theme/theme1.xml><?xml version="1.0" encoding="utf-8"?>
<a:theme xmlns:a="http://schemas.openxmlformats.org/drawingml/2006/main" name="TA Data and Insights: Q4 2026 update">
  <a:themeElements>
    <a:clrScheme name="TA Data and Insights: Q4 2026 update">
      <a:dk1>
        <a:srgbClr val="0D2C54"/>
      </a:dk1>
      <a:lt1>
        <a:srgbClr val="FFFFFF"/>
      </a:lt1>
      <a:dk2>
        <a:srgbClr val="4A617F"/>
      </a:dk2>
      <a:lt2>
        <a:srgbClr val="E7EAEE"/>
      </a:lt2>
      <a:accent1>
        <a:srgbClr val="F2B33D"/>
      </a:accent1>
      <a:accent2>
        <a:srgbClr val="C8102E"/>
      </a:accent2>
      <a:accent3>
        <a:srgbClr val="1F4E79"/>
      </a:accent3>
      <a:accent4>
        <a:srgbClr val="4F81B0"/>
      </a:accent4>
      <a:accent5>
        <a:srgbClr val="2E7D4F"/>
      </a:accent5>
      <a:accent6>
        <a:srgbClr val="1F2933"/>
      </a:accent6>
      <a:hlink>
        <a:srgbClr val="0563C1"/>
      </a:hlink>
      <a:folHlink>
        <a:srgbClr val="954F72"/>
      </a:folHlink>
    </a:clrScheme>
    <a:fontScheme name="TA Data and Insights: Q4 2026 upda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 Data and Insights: Q4 2026 update</dc:title>
  <dc:subject/>
  <dc:creator/>
  <cp:lastModifiedBy/>
  <cp:revision>1</cp:revision>
  <dcterms:created xsi:type="dcterms:W3CDTF">2026-10-16T12:11:13Z</dcterms:created>
  <dcterms:modified xsi:type="dcterms:W3CDTF">2026-10-16T12:11:13Z</dcterms:modified>
</cp:coreProperties>
</file>